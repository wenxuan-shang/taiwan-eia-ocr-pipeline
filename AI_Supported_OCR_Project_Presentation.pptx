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256" r:id="rId2"/>
    <p:sldId id="263" r:id="rId3"/>
    <p:sldId id="264" r:id="rId4"/>
    <p:sldId id="265" r:id="rId5"/>
    <p:sldId id="262" r:id="rId6"/>
    <p:sldId id="266" r:id="rId7"/>
    <p:sldId id="267" r:id="rId8"/>
    <p:sldId id="268" r:id="rId9"/>
    <p:sldId id="269" r:id="rId10"/>
    <p:sldId id="270" r:id="rId11"/>
    <p:sldId id="271" r:id="rId12"/>
    <p:sldId id="272" r:id="rId13"/>
    <p:sldId id="273" r:id="rId14"/>
    <p:sldId id="274" r:id="rId15"/>
    <p:sldId id="276" r:id="rId16"/>
    <p:sldId id="278" r:id="rId17"/>
    <p:sldId id="275" r:id="rId18"/>
    <p:sldId id="282" r:id="rId19"/>
    <p:sldId id="279" r:id="rId20"/>
    <p:sldId id="281" r:id="rId21"/>
    <p:sldId id="280" r:id="rId22"/>
    <p:sldId id="283" r:id="rId23"/>
    <p:sldId id="284" r:id="rId24"/>
    <p:sldId id="285" r:id="rId25"/>
    <p:sldId id="286" r:id="rId26"/>
    <p:sldId id="287" r:id="rId27"/>
    <p:sldId id="288" r:id="rId28"/>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hangwx202002@163.com" initials="s" lastIdx="1" clrIdx="0">
    <p:extLst>
      <p:ext uri="{19B8F6BF-5375-455C-9EA6-DF929625EA0E}">
        <p15:presenceInfo xmlns:p15="http://schemas.microsoft.com/office/powerpoint/2012/main" userId="a5b60cb7b14ab1a6"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93" autoAdjust="0"/>
    <p:restoredTop sz="94660"/>
  </p:normalViewPr>
  <p:slideViewPr>
    <p:cSldViewPr snapToGrid="0">
      <p:cViewPr varScale="1">
        <p:scale>
          <a:sx n="102" d="100"/>
          <a:sy n="102" d="100"/>
        </p:scale>
        <p:origin x="10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commentAuthors" Target="commentAuthor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1A60BFD-B5CB-4050-A11B-00D8893C00D5}" type="datetimeFigureOut">
              <a:rPr kumimoji="1" lang="ja-JP" altLang="en-US" smtClean="0"/>
              <a:t>2026/5/26</a:t>
            </a:fld>
            <a:endParaRPr kumimoji="1" lang="ja-JP"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endParaRPr kumimoji="1" lang="ja-JP"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91203EC-D2AF-46C5-8DC7-C0AE25D336CC}" type="slidenum">
              <a:rPr kumimoji="1" lang="ja-JP" altLang="en-US" smtClean="0"/>
              <a:t>‹#›</a:t>
            </a:fld>
            <a:endParaRPr kumimoji="1" lang="ja-JP" altLang="en-US"/>
          </a:p>
        </p:txBody>
      </p:sp>
    </p:spTree>
    <p:extLst>
      <p:ext uri="{BB962C8B-B14F-4D97-AF65-F5344CB8AC3E}">
        <p14:creationId xmlns:p14="http://schemas.microsoft.com/office/powerpoint/2010/main" val="4003013821"/>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ja-JP" altLang="en-US" dirty="0"/>
          </a:p>
        </p:txBody>
      </p:sp>
      <p:sp>
        <p:nvSpPr>
          <p:cNvPr id="4" name="灯片编号占位符 3"/>
          <p:cNvSpPr>
            <a:spLocks noGrp="1"/>
          </p:cNvSpPr>
          <p:nvPr>
            <p:ph type="sldNum" sz="quarter" idx="5"/>
          </p:nvPr>
        </p:nvSpPr>
        <p:spPr/>
        <p:txBody>
          <a:bodyPr/>
          <a:lstStyle/>
          <a:p>
            <a:fld id="{891203EC-D2AF-46C5-8DC7-C0AE25D336CC}" type="slidenum">
              <a:rPr kumimoji="1" lang="ja-JP" altLang="en-US" smtClean="0"/>
              <a:t>21</a:t>
            </a:fld>
            <a:endParaRPr kumimoji="1" lang="ja-JP" altLang="en-US"/>
          </a:p>
        </p:txBody>
      </p:sp>
    </p:spTree>
    <p:extLst>
      <p:ext uri="{BB962C8B-B14F-4D97-AF65-F5344CB8AC3E}">
        <p14:creationId xmlns:p14="http://schemas.microsoft.com/office/powerpoint/2010/main" val="25611200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6B8825-9D45-39E9-F591-F055CE50FEEB}"/>
              </a:ext>
            </a:extLst>
          </p:cNvPr>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endParaRPr kumimoji="1" lang="ja-JP" altLang="en-US"/>
          </a:p>
        </p:txBody>
      </p:sp>
      <p:sp>
        <p:nvSpPr>
          <p:cNvPr id="3" name="副标题 2">
            <a:extLst>
              <a:ext uri="{FF2B5EF4-FFF2-40B4-BE49-F238E27FC236}">
                <a16:creationId xmlns:a16="http://schemas.microsoft.com/office/drawing/2014/main" id="{DA124644-F6DF-9E63-F98E-C37756C031D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endParaRPr kumimoji="1" lang="ja-JP" altLang="en-US"/>
          </a:p>
        </p:txBody>
      </p:sp>
      <p:sp>
        <p:nvSpPr>
          <p:cNvPr id="4" name="日期占位符 3">
            <a:extLst>
              <a:ext uri="{FF2B5EF4-FFF2-40B4-BE49-F238E27FC236}">
                <a16:creationId xmlns:a16="http://schemas.microsoft.com/office/drawing/2014/main" id="{CC1A785A-EE2C-E39E-5155-BCE610AEE481}"/>
              </a:ext>
            </a:extLst>
          </p:cNvPr>
          <p:cNvSpPr>
            <a:spLocks noGrp="1"/>
          </p:cNvSpPr>
          <p:nvPr>
            <p:ph type="dt" sz="half" idx="10"/>
          </p:nvPr>
        </p:nvSpPr>
        <p:spPr/>
        <p:txBody>
          <a:bodyPr/>
          <a:lstStyle/>
          <a:p>
            <a:fld id="{4F4417C8-C3F7-4D0A-9FEE-EECEC3E6A734}" type="datetimeFigureOut">
              <a:rPr kumimoji="1" lang="ja-JP" altLang="en-US" smtClean="0"/>
              <a:t>2026/5/26</a:t>
            </a:fld>
            <a:endParaRPr kumimoji="1" lang="ja-JP" altLang="en-US"/>
          </a:p>
        </p:txBody>
      </p:sp>
      <p:sp>
        <p:nvSpPr>
          <p:cNvPr id="5" name="页脚占位符 4">
            <a:extLst>
              <a:ext uri="{FF2B5EF4-FFF2-40B4-BE49-F238E27FC236}">
                <a16:creationId xmlns:a16="http://schemas.microsoft.com/office/drawing/2014/main" id="{69737209-A0B7-545F-10D5-6BBE8FF0E189}"/>
              </a:ext>
            </a:extLst>
          </p:cNvPr>
          <p:cNvSpPr>
            <a:spLocks noGrp="1"/>
          </p:cNvSpPr>
          <p:nvPr>
            <p:ph type="ftr" sz="quarter" idx="11"/>
          </p:nvPr>
        </p:nvSpPr>
        <p:spPr/>
        <p:txBody>
          <a:bodyPr/>
          <a:lstStyle/>
          <a:p>
            <a:endParaRPr kumimoji="1" lang="ja-JP" altLang="en-US"/>
          </a:p>
        </p:txBody>
      </p:sp>
      <p:sp>
        <p:nvSpPr>
          <p:cNvPr id="6" name="灯片编号占位符 5">
            <a:extLst>
              <a:ext uri="{FF2B5EF4-FFF2-40B4-BE49-F238E27FC236}">
                <a16:creationId xmlns:a16="http://schemas.microsoft.com/office/drawing/2014/main" id="{2139D5A7-570B-E586-3283-74D080DB5B0A}"/>
              </a:ext>
            </a:extLst>
          </p:cNvPr>
          <p:cNvSpPr>
            <a:spLocks noGrp="1"/>
          </p:cNvSpPr>
          <p:nvPr>
            <p:ph type="sldNum" sz="quarter" idx="12"/>
          </p:nvPr>
        </p:nvSpPr>
        <p:spPr/>
        <p:txBody>
          <a:bodyPr/>
          <a:lstStyle/>
          <a:p>
            <a:fld id="{6F29DF21-7D6F-403F-95B0-147FDF46BB40}" type="slidenum">
              <a:rPr kumimoji="1" lang="ja-JP" altLang="en-US" smtClean="0"/>
              <a:t>‹#›</a:t>
            </a:fld>
            <a:endParaRPr kumimoji="1" lang="ja-JP" altLang="en-US"/>
          </a:p>
        </p:txBody>
      </p:sp>
    </p:spTree>
    <p:extLst>
      <p:ext uri="{BB962C8B-B14F-4D97-AF65-F5344CB8AC3E}">
        <p14:creationId xmlns:p14="http://schemas.microsoft.com/office/powerpoint/2010/main" val="6865596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46FF11-BC2C-417C-8C37-C49317DCDF84}"/>
              </a:ext>
            </a:extLst>
          </p:cNvPr>
          <p:cNvSpPr>
            <a:spLocks noGrp="1"/>
          </p:cNvSpPr>
          <p:nvPr>
            <p:ph type="title"/>
          </p:nvPr>
        </p:nvSpPr>
        <p:spPr/>
        <p:txBody>
          <a:bodyPr/>
          <a:lstStyle/>
          <a:p>
            <a:r>
              <a:rPr kumimoji="1" lang="zh-CN" altLang="en-US"/>
              <a:t>单击此处编辑母版标题样式</a:t>
            </a:r>
            <a:endParaRPr kumimoji="1" lang="ja-JP" altLang="en-US"/>
          </a:p>
        </p:txBody>
      </p:sp>
      <p:sp>
        <p:nvSpPr>
          <p:cNvPr id="3" name="内容占位符 2">
            <a:extLst>
              <a:ext uri="{FF2B5EF4-FFF2-40B4-BE49-F238E27FC236}">
                <a16:creationId xmlns:a16="http://schemas.microsoft.com/office/drawing/2014/main" id="{B6CA7050-6AA2-9E84-BCCA-196003BC9C19}"/>
              </a:ext>
            </a:extLst>
          </p:cNvPr>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endParaRPr kumimoji="1" lang="ja-JP" altLang="en-US"/>
          </a:p>
        </p:txBody>
      </p:sp>
      <p:sp>
        <p:nvSpPr>
          <p:cNvPr id="4" name="日期占位符 3">
            <a:extLst>
              <a:ext uri="{FF2B5EF4-FFF2-40B4-BE49-F238E27FC236}">
                <a16:creationId xmlns:a16="http://schemas.microsoft.com/office/drawing/2014/main" id="{12D0D896-090F-1445-B089-7B6EAF34F91B}"/>
              </a:ext>
            </a:extLst>
          </p:cNvPr>
          <p:cNvSpPr>
            <a:spLocks noGrp="1"/>
          </p:cNvSpPr>
          <p:nvPr>
            <p:ph type="dt" sz="half" idx="10"/>
          </p:nvPr>
        </p:nvSpPr>
        <p:spPr/>
        <p:txBody>
          <a:bodyPr/>
          <a:lstStyle/>
          <a:p>
            <a:fld id="{4F4417C8-C3F7-4D0A-9FEE-EECEC3E6A734}" type="datetimeFigureOut">
              <a:rPr kumimoji="1" lang="ja-JP" altLang="en-US" smtClean="0"/>
              <a:t>2026/5/26</a:t>
            </a:fld>
            <a:endParaRPr kumimoji="1" lang="ja-JP" altLang="en-US"/>
          </a:p>
        </p:txBody>
      </p:sp>
      <p:sp>
        <p:nvSpPr>
          <p:cNvPr id="5" name="页脚占位符 4">
            <a:extLst>
              <a:ext uri="{FF2B5EF4-FFF2-40B4-BE49-F238E27FC236}">
                <a16:creationId xmlns:a16="http://schemas.microsoft.com/office/drawing/2014/main" id="{7948B841-CE38-0153-2CC3-13D0BF27FF84}"/>
              </a:ext>
            </a:extLst>
          </p:cNvPr>
          <p:cNvSpPr>
            <a:spLocks noGrp="1"/>
          </p:cNvSpPr>
          <p:nvPr>
            <p:ph type="ftr" sz="quarter" idx="11"/>
          </p:nvPr>
        </p:nvSpPr>
        <p:spPr/>
        <p:txBody>
          <a:bodyPr/>
          <a:lstStyle/>
          <a:p>
            <a:endParaRPr kumimoji="1" lang="ja-JP" altLang="en-US"/>
          </a:p>
        </p:txBody>
      </p:sp>
      <p:sp>
        <p:nvSpPr>
          <p:cNvPr id="6" name="灯片编号占位符 5">
            <a:extLst>
              <a:ext uri="{FF2B5EF4-FFF2-40B4-BE49-F238E27FC236}">
                <a16:creationId xmlns:a16="http://schemas.microsoft.com/office/drawing/2014/main" id="{5C094367-7060-DC28-AB18-63F763F89A35}"/>
              </a:ext>
            </a:extLst>
          </p:cNvPr>
          <p:cNvSpPr>
            <a:spLocks noGrp="1"/>
          </p:cNvSpPr>
          <p:nvPr>
            <p:ph type="sldNum" sz="quarter" idx="12"/>
          </p:nvPr>
        </p:nvSpPr>
        <p:spPr/>
        <p:txBody>
          <a:bodyPr/>
          <a:lstStyle/>
          <a:p>
            <a:fld id="{6F29DF21-7D6F-403F-95B0-147FDF46BB40}" type="slidenum">
              <a:rPr kumimoji="1" lang="ja-JP" altLang="en-US" smtClean="0"/>
              <a:t>‹#›</a:t>
            </a:fld>
            <a:endParaRPr kumimoji="1" lang="ja-JP" altLang="en-US"/>
          </a:p>
        </p:txBody>
      </p:sp>
    </p:spTree>
    <p:extLst>
      <p:ext uri="{BB962C8B-B14F-4D97-AF65-F5344CB8AC3E}">
        <p14:creationId xmlns:p14="http://schemas.microsoft.com/office/powerpoint/2010/main" val="20009442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05209A4-3F06-64A7-EA66-5F6DC28F9596}"/>
              </a:ext>
            </a:extLst>
          </p:cNvPr>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endParaRPr kumimoji="1" lang="ja-JP" altLang="en-US"/>
          </a:p>
        </p:txBody>
      </p:sp>
      <p:sp>
        <p:nvSpPr>
          <p:cNvPr id="3" name="文本占位符 2">
            <a:extLst>
              <a:ext uri="{FF2B5EF4-FFF2-40B4-BE49-F238E27FC236}">
                <a16:creationId xmlns:a16="http://schemas.microsoft.com/office/drawing/2014/main" id="{E7062832-BEB2-3A14-52CE-031DB79F274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CN" altLang="en-US"/>
              <a:t>单击此处编辑母版文本样式</a:t>
            </a:r>
          </a:p>
        </p:txBody>
      </p:sp>
      <p:sp>
        <p:nvSpPr>
          <p:cNvPr id="4" name="日期占位符 3">
            <a:extLst>
              <a:ext uri="{FF2B5EF4-FFF2-40B4-BE49-F238E27FC236}">
                <a16:creationId xmlns:a16="http://schemas.microsoft.com/office/drawing/2014/main" id="{68411533-2E7D-F856-3D8F-5F1C0A59A3F0}"/>
              </a:ext>
            </a:extLst>
          </p:cNvPr>
          <p:cNvSpPr>
            <a:spLocks noGrp="1"/>
          </p:cNvSpPr>
          <p:nvPr>
            <p:ph type="dt" sz="half" idx="10"/>
          </p:nvPr>
        </p:nvSpPr>
        <p:spPr/>
        <p:txBody>
          <a:bodyPr/>
          <a:lstStyle/>
          <a:p>
            <a:fld id="{4F4417C8-C3F7-4D0A-9FEE-EECEC3E6A734}" type="datetimeFigureOut">
              <a:rPr kumimoji="1" lang="ja-JP" altLang="en-US" smtClean="0"/>
              <a:t>2026/5/26</a:t>
            </a:fld>
            <a:endParaRPr kumimoji="1" lang="ja-JP" altLang="en-US"/>
          </a:p>
        </p:txBody>
      </p:sp>
      <p:sp>
        <p:nvSpPr>
          <p:cNvPr id="5" name="页脚占位符 4">
            <a:extLst>
              <a:ext uri="{FF2B5EF4-FFF2-40B4-BE49-F238E27FC236}">
                <a16:creationId xmlns:a16="http://schemas.microsoft.com/office/drawing/2014/main" id="{EB1E87A0-588A-0184-E3C2-51329324A848}"/>
              </a:ext>
            </a:extLst>
          </p:cNvPr>
          <p:cNvSpPr>
            <a:spLocks noGrp="1"/>
          </p:cNvSpPr>
          <p:nvPr>
            <p:ph type="ftr" sz="quarter" idx="11"/>
          </p:nvPr>
        </p:nvSpPr>
        <p:spPr/>
        <p:txBody>
          <a:bodyPr/>
          <a:lstStyle/>
          <a:p>
            <a:endParaRPr kumimoji="1" lang="ja-JP" altLang="en-US"/>
          </a:p>
        </p:txBody>
      </p:sp>
      <p:sp>
        <p:nvSpPr>
          <p:cNvPr id="6" name="灯片编号占位符 5">
            <a:extLst>
              <a:ext uri="{FF2B5EF4-FFF2-40B4-BE49-F238E27FC236}">
                <a16:creationId xmlns:a16="http://schemas.microsoft.com/office/drawing/2014/main" id="{7F6F9ADF-FAF6-DA2B-0507-8B58ED141BEA}"/>
              </a:ext>
            </a:extLst>
          </p:cNvPr>
          <p:cNvSpPr>
            <a:spLocks noGrp="1"/>
          </p:cNvSpPr>
          <p:nvPr>
            <p:ph type="sldNum" sz="quarter" idx="12"/>
          </p:nvPr>
        </p:nvSpPr>
        <p:spPr/>
        <p:txBody>
          <a:bodyPr/>
          <a:lstStyle/>
          <a:p>
            <a:fld id="{6F29DF21-7D6F-403F-95B0-147FDF46BB40}" type="slidenum">
              <a:rPr kumimoji="1" lang="ja-JP" altLang="en-US" smtClean="0"/>
              <a:t>‹#›</a:t>
            </a:fld>
            <a:endParaRPr kumimoji="1" lang="ja-JP" altLang="en-US"/>
          </a:p>
        </p:txBody>
      </p:sp>
    </p:spTree>
    <p:extLst>
      <p:ext uri="{BB962C8B-B14F-4D97-AF65-F5344CB8AC3E}">
        <p14:creationId xmlns:p14="http://schemas.microsoft.com/office/powerpoint/2010/main" val="4794968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3EED79D-C4B3-34C6-3472-A8815A16C68A}"/>
              </a:ext>
            </a:extLst>
          </p:cNvPr>
          <p:cNvSpPr>
            <a:spLocks noGrp="1"/>
          </p:cNvSpPr>
          <p:nvPr>
            <p:ph type="title"/>
          </p:nvPr>
        </p:nvSpPr>
        <p:spPr/>
        <p:txBody>
          <a:bodyPr/>
          <a:lstStyle/>
          <a:p>
            <a:r>
              <a:rPr kumimoji="1" lang="zh-CN" altLang="en-US"/>
              <a:t>单击此处编辑母版标题样式</a:t>
            </a:r>
            <a:endParaRPr kumimoji="1" lang="ja-JP" altLang="en-US"/>
          </a:p>
        </p:txBody>
      </p:sp>
      <p:sp>
        <p:nvSpPr>
          <p:cNvPr id="3" name="内容占位符 2">
            <a:extLst>
              <a:ext uri="{FF2B5EF4-FFF2-40B4-BE49-F238E27FC236}">
                <a16:creationId xmlns:a16="http://schemas.microsoft.com/office/drawing/2014/main" id="{F8B6C0C2-28F4-9566-D0F1-EC0838DD869A}"/>
              </a:ext>
            </a:extLst>
          </p:cNvPr>
          <p:cNvSpPr>
            <a:spLocks noGrp="1"/>
          </p:cNvSpPr>
          <p:nvPr>
            <p:ph sz="half" idx="1"/>
          </p:nvPr>
        </p:nvSpPr>
        <p:spPr>
          <a:xfrm>
            <a:off x="838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endParaRPr kumimoji="1" lang="ja-JP" altLang="en-US"/>
          </a:p>
        </p:txBody>
      </p:sp>
      <p:sp>
        <p:nvSpPr>
          <p:cNvPr id="4" name="内容占位符 3">
            <a:extLst>
              <a:ext uri="{FF2B5EF4-FFF2-40B4-BE49-F238E27FC236}">
                <a16:creationId xmlns:a16="http://schemas.microsoft.com/office/drawing/2014/main" id="{CDE17E93-84FB-C389-8667-3BBDD2E3B231}"/>
              </a:ext>
            </a:extLst>
          </p:cNvPr>
          <p:cNvSpPr>
            <a:spLocks noGrp="1"/>
          </p:cNvSpPr>
          <p:nvPr>
            <p:ph sz="half" idx="2"/>
          </p:nvPr>
        </p:nvSpPr>
        <p:spPr>
          <a:xfrm>
            <a:off x="6172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endParaRPr kumimoji="1" lang="ja-JP" altLang="en-US"/>
          </a:p>
        </p:txBody>
      </p:sp>
      <p:sp>
        <p:nvSpPr>
          <p:cNvPr id="5" name="日期占位符 4">
            <a:extLst>
              <a:ext uri="{FF2B5EF4-FFF2-40B4-BE49-F238E27FC236}">
                <a16:creationId xmlns:a16="http://schemas.microsoft.com/office/drawing/2014/main" id="{E0216F7C-EBC9-AA58-3DFC-731FF50608F6}"/>
              </a:ext>
            </a:extLst>
          </p:cNvPr>
          <p:cNvSpPr>
            <a:spLocks noGrp="1"/>
          </p:cNvSpPr>
          <p:nvPr>
            <p:ph type="dt" sz="half" idx="10"/>
          </p:nvPr>
        </p:nvSpPr>
        <p:spPr/>
        <p:txBody>
          <a:bodyPr/>
          <a:lstStyle/>
          <a:p>
            <a:fld id="{4F4417C8-C3F7-4D0A-9FEE-EECEC3E6A734}" type="datetimeFigureOut">
              <a:rPr kumimoji="1" lang="ja-JP" altLang="en-US" smtClean="0"/>
              <a:t>2026/5/26</a:t>
            </a:fld>
            <a:endParaRPr kumimoji="1" lang="ja-JP" altLang="en-US"/>
          </a:p>
        </p:txBody>
      </p:sp>
      <p:sp>
        <p:nvSpPr>
          <p:cNvPr id="6" name="页脚占位符 5">
            <a:extLst>
              <a:ext uri="{FF2B5EF4-FFF2-40B4-BE49-F238E27FC236}">
                <a16:creationId xmlns:a16="http://schemas.microsoft.com/office/drawing/2014/main" id="{51F9EFBF-ECC3-1C0D-3B53-70F2C8ED0C2A}"/>
              </a:ext>
            </a:extLst>
          </p:cNvPr>
          <p:cNvSpPr>
            <a:spLocks noGrp="1"/>
          </p:cNvSpPr>
          <p:nvPr>
            <p:ph type="ftr" sz="quarter" idx="11"/>
          </p:nvPr>
        </p:nvSpPr>
        <p:spPr/>
        <p:txBody>
          <a:bodyPr/>
          <a:lstStyle/>
          <a:p>
            <a:endParaRPr kumimoji="1" lang="ja-JP" altLang="en-US"/>
          </a:p>
        </p:txBody>
      </p:sp>
      <p:sp>
        <p:nvSpPr>
          <p:cNvPr id="7" name="灯片编号占位符 6">
            <a:extLst>
              <a:ext uri="{FF2B5EF4-FFF2-40B4-BE49-F238E27FC236}">
                <a16:creationId xmlns:a16="http://schemas.microsoft.com/office/drawing/2014/main" id="{DAF75A2B-5F99-EE15-2F73-7501912D44F8}"/>
              </a:ext>
            </a:extLst>
          </p:cNvPr>
          <p:cNvSpPr>
            <a:spLocks noGrp="1"/>
          </p:cNvSpPr>
          <p:nvPr>
            <p:ph type="sldNum" sz="quarter" idx="12"/>
          </p:nvPr>
        </p:nvSpPr>
        <p:spPr/>
        <p:txBody>
          <a:bodyPr/>
          <a:lstStyle/>
          <a:p>
            <a:fld id="{6F29DF21-7D6F-403F-95B0-147FDF46BB40}" type="slidenum">
              <a:rPr kumimoji="1" lang="ja-JP" altLang="en-US" smtClean="0"/>
              <a:t>‹#›</a:t>
            </a:fld>
            <a:endParaRPr kumimoji="1" lang="ja-JP" altLang="en-US"/>
          </a:p>
        </p:txBody>
      </p:sp>
    </p:spTree>
    <p:extLst>
      <p:ext uri="{BB962C8B-B14F-4D97-AF65-F5344CB8AC3E}">
        <p14:creationId xmlns:p14="http://schemas.microsoft.com/office/powerpoint/2010/main" val="37296485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C5E47D6-2F95-F1AF-65F3-DEA4AD6502E3}"/>
              </a:ext>
            </a:extLst>
          </p:cNvPr>
          <p:cNvSpPr>
            <a:spLocks noGrp="1"/>
          </p:cNvSpPr>
          <p:nvPr>
            <p:ph type="title"/>
          </p:nvPr>
        </p:nvSpPr>
        <p:spPr>
          <a:xfrm>
            <a:off x="839788" y="365125"/>
            <a:ext cx="10515600" cy="1325563"/>
          </a:xfrm>
        </p:spPr>
        <p:txBody>
          <a:bodyPr/>
          <a:lstStyle/>
          <a:p>
            <a:r>
              <a:rPr kumimoji="1" lang="zh-CN" altLang="en-US"/>
              <a:t>单击此处编辑母版标题样式</a:t>
            </a:r>
            <a:endParaRPr kumimoji="1" lang="ja-JP" altLang="en-US"/>
          </a:p>
        </p:txBody>
      </p:sp>
      <p:sp>
        <p:nvSpPr>
          <p:cNvPr id="3" name="文本占位符 2">
            <a:extLst>
              <a:ext uri="{FF2B5EF4-FFF2-40B4-BE49-F238E27FC236}">
                <a16:creationId xmlns:a16="http://schemas.microsoft.com/office/drawing/2014/main" id="{F4AF1637-CF1F-19D1-34AC-4F23D76BE9E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a:extLst>
              <a:ext uri="{FF2B5EF4-FFF2-40B4-BE49-F238E27FC236}">
                <a16:creationId xmlns:a16="http://schemas.microsoft.com/office/drawing/2014/main" id="{93808C65-3EE7-6B76-D6A8-3DB4453C1452}"/>
              </a:ext>
            </a:extLst>
          </p:cNvPr>
          <p:cNvSpPr>
            <a:spLocks noGrp="1"/>
          </p:cNvSpPr>
          <p:nvPr>
            <p:ph sz="half" idx="2"/>
          </p:nvPr>
        </p:nvSpPr>
        <p:spPr>
          <a:xfrm>
            <a:off x="839788" y="2505075"/>
            <a:ext cx="5157787"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endParaRPr kumimoji="1" lang="ja-JP" altLang="en-US"/>
          </a:p>
        </p:txBody>
      </p:sp>
      <p:sp>
        <p:nvSpPr>
          <p:cNvPr id="5" name="文本占位符 4">
            <a:extLst>
              <a:ext uri="{FF2B5EF4-FFF2-40B4-BE49-F238E27FC236}">
                <a16:creationId xmlns:a16="http://schemas.microsoft.com/office/drawing/2014/main" id="{47FFE5E8-B52B-8A36-49D4-DA0B4F20B01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a:extLst>
              <a:ext uri="{FF2B5EF4-FFF2-40B4-BE49-F238E27FC236}">
                <a16:creationId xmlns:a16="http://schemas.microsoft.com/office/drawing/2014/main" id="{4EB137A3-F16A-4BB1-0680-1298F3D6FE84}"/>
              </a:ext>
            </a:extLst>
          </p:cNvPr>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endParaRPr kumimoji="1" lang="ja-JP" altLang="en-US"/>
          </a:p>
        </p:txBody>
      </p:sp>
      <p:sp>
        <p:nvSpPr>
          <p:cNvPr id="7" name="日期占位符 6">
            <a:extLst>
              <a:ext uri="{FF2B5EF4-FFF2-40B4-BE49-F238E27FC236}">
                <a16:creationId xmlns:a16="http://schemas.microsoft.com/office/drawing/2014/main" id="{7BDA3C2A-66CD-22F9-3064-B9621D979103}"/>
              </a:ext>
            </a:extLst>
          </p:cNvPr>
          <p:cNvSpPr>
            <a:spLocks noGrp="1"/>
          </p:cNvSpPr>
          <p:nvPr>
            <p:ph type="dt" sz="half" idx="10"/>
          </p:nvPr>
        </p:nvSpPr>
        <p:spPr/>
        <p:txBody>
          <a:bodyPr/>
          <a:lstStyle/>
          <a:p>
            <a:fld id="{4F4417C8-C3F7-4D0A-9FEE-EECEC3E6A734}" type="datetimeFigureOut">
              <a:rPr kumimoji="1" lang="ja-JP" altLang="en-US" smtClean="0"/>
              <a:t>2026/5/26</a:t>
            </a:fld>
            <a:endParaRPr kumimoji="1" lang="ja-JP" altLang="en-US"/>
          </a:p>
        </p:txBody>
      </p:sp>
      <p:sp>
        <p:nvSpPr>
          <p:cNvPr id="8" name="页脚占位符 7">
            <a:extLst>
              <a:ext uri="{FF2B5EF4-FFF2-40B4-BE49-F238E27FC236}">
                <a16:creationId xmlns:a16="http://schemas.microsoft.com/office/drawing/2014/main" id="{76B5208E-3FD2-A876-0BA9-48EFB9C7C457}"/>
              </a:ext>
            </a:extLst>
          </p:cNvPr>
          <p:cNvSpPr>
            <a:spLocks noGrp="1"/>
          </p:cNvSpPr>
          <p:nvPr>
            <p:ph type="ftr" sz="quarter" idx="11"/>
          </p:nvPr>
        </p:nvSpPr>
        <p:spPr/>
        <p:txBody>
          <a:bodyPr/>
          <a:lstStyle/>
          <a:p>
            <a:endParaRPr kumimoji="1" lang="ja-JP" altLang="en-US"/>
          </a:p>
        </p:txBody>
      </p:sp>
      <p:sp>
        <p:nvSpPr>
          <p:cNvPr id="9" name="灯片编号占位符 8">
            <a:extLst>
              <a:ext uri="{FF2B5EF4-FFF2-40B4-BE49-F238E27FC236}">
                <a16:creationId xmlns:a16="http://schemas.microsoft.com/office/drawing/2014/main" id="{2DCCE6D2-7A34-4625-5B5E-F71607638F6C}"/>
              </a:ext>
            </a:extLst>
          </p:cNvPr>
          <p:cNvSpPr>
            <a:spLocks noGrp="1"/>
          </p:cNvSpPr>
          <p:nvPr>
            <p:ph type="sldNum" sz="quarter" idx="12"/>
          </p:nvPr>
        </p:nvSpPr>
        <p:spPr/>
        <p:txBody>
          <a:bodyPr/>
          <a:lstStyle/>
          <a:p>
            <a:fld id="{6F29DF21-7D6F-403F-95B0-147FDF46BB40}" type="slidenum">
              <a:rPr kumimoji="1" lang="ja-JP" altLang="en-US" smtClean="0"/>
              <a:t>‹#›</a:t>
            </a:fld>
            <a:endParaRPr kumimoji="1" lang="ja-JP" altLang="en-US"/>
          </a:p>
        </p:txBody>
      </p:sp>
    </p:spTree>
    <p:extLst>
      <p:ext uri="{BB962C8B-B14F-4D97-AF65-F5344CB8AC3E}">
        <p14:creationId xmlns:p14="http://schemas.microsoft.com/office/powerpoint/2010/main" val="23468215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33ECD17-56FB-E35A-6469-2448EDDB3323}"/>
              </a:ext>
            </a:extLst>
          </p:cNvPr>
          <p:cNvSpPr>
            <a:spLocks noGrp="1"/>
          </p:cNvSpPr>
          <p:nvPr>
            <p:ph type="title"/>
          </p:nvPr>
        </p:nvSpPr>
        <p:spPr/>
        <p:txBody>
          <a:bodyPr/>
          <a:lstStyle/>
          <a:p>
            <a:r>
              <a:rPr kumimoji="1" lang="zh-CN" altLang="en-US"/>
              <a:t>单击此处编辑母版标题样式</a:t>
            </a:r>
            <a:endParaRPr kumimoji="1" lang="ja-JP" altLang="en-US"/>
          </a:p>
        </p:txBody>
      </p:sp>
      <p:sp>
        <p:nvSpPr>
          <p:cNvPr id="3" name="日期占位符 2">
            <a:extLst>
              <a:ext uri="{FF2B5EF4-FFF2-40B4-BE49-F238E27FC236}">
                <a16:creationId xmlns:a16="http://schemas.microsoft.com/office/drawing/2014/main" id="{E68E52E1-59E2-B533-4BFD-4F2ABA237F34}"/>
              </a:ext>
            </a:extLst>
          </p:cNvPr>
          <p:cNvSpPr>
            <a:spLocks noGrp="1"/>
          </p:cNvSpPr>
          <p:nvPr>
            <p:ph type="dt" sz="half" idx="10"/>
          </p:nvPr>
        </p:nvSpPr>
        <p:spPr/>
        <p:txBody>
          <a:bodyPr/>
          <a:lstStyle/>
          <a:p>
            <a:fld id="{4F4417C8-C3F7-4D0A-9FEE-EECEC3E6A734}" type="datetimeFigureOut">
              <a:rPr kumimoji="1" lang="ja-JP" altLang="en-US" smtClean="0"/>
              <a:t>2026/5/26</a:t>
            </a:fld>
            <a:endParaRPr kumimoji="1" lang="ja-JP" altLang="en-US"/>
          </a:p>
        </p:txBody>
      </p:sp>
      <p:sp>
        <p:nvSpPr>
          <p:cNvPr id="4" name="页脚占位符 3">
            <a:extLst>
              <a:ext uri="{FF2B5EF4-FFF2-40B4-BE49-F238E27FC236}">
                <a16:creationId xmlns:a16="http://schemas.microsoft.com/office/drawing/2014/main" id="{6625B17B-A4F8-02CB-69BB-30153B177A25}"/>
              </a:ext>
            </a:extLst>
          </p:cNvPr>
          <p:cNvSpPr>
            <a:spLocks noGrp="1"/>
          </p:cNvSpPr>
          <p:nvPr>
            <p:ph type="ftr" sz="quarter" idx="11"/>
          </p:nvPr>
        </p:nvSpPr>
        <p:spPr/>
        <p:txBody>
          <a:bodyPr/>
          <a:lstStyle/>
          <a:p>
            <a:endParaRPr kumimoji="1" lang="ja-JP" altLang="en-US"/>
          </a:p>
        </p:txBody>
      </p:sp>
      <p:sp>
        <p:nvSpPr>
          <p:cNvPr id="5" name="灯片编号占位符 4">
            <a:extLst>
              <a:ext uri="{FF2B5EF4-FFF2-40B4-BE49-F238E27FC236}">
                <a16:creationId xmlns:a16="http://schemas.microsoft.com/office/drawing/2014/main" id="{B25B3F6E-E646-F20C-D4FA-865124547F81}"/>
              </a:ext>
            </a:extLst>
          </p:cNvPr>
          <p:cNvSpPr>
            <a:spLocks noGrp="1"/>
          </p:cNvSpPr>
          <p:nvPr>
            <p:ph type="sldNum" sz="quarter" idx="12"/>
          </p:nvPr>
        </p:nvSpPr>
        <p:spPr/>
        <p:txBody>
          <a:bodyPr/>
          <a:lstStyle/>
          <a:p>
            <a:fld id="{6F29DF21-7D6F-403F-95B0-147FDF46BB40}" type="slidenum">
              <a:rPr kumimoji="1" lang="ja-JP" altLang="en-US" smtClean="0"/>
              <a:t>‹#›</a:t>
            </a:fld>
            <a:endParaRPr kumimoji="1" lang="ja-JP" altLang="en-US"/>
          </a:p>
        </p:txBody>
      </p:sp>
    </p:spTree>
    <p:extLst>
      <p:ext uri="{BB962C8B-B14F-4D97-AF65-F5344CB8AC3E}">
        <p14:creationId xmlns:p14="http://schemas.microsoft.com/office/powerpoint/2010/main" val="29495558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5FC1E4A4-5718-A20B-2A25-E7526314E2B9}"/>
              </a:ext>
            </a:extLst>
          </p:cNvPr>
          <p:cNvSpPr>
            <a:spLocks noGrp="1"/>
          </p:cNvSpPr>
          <p:nvPr>
            <p:ph type="dt" sz="half" idx="10"/>
          </p:nvPr>
        </p:nvSpPr>
        <p:spPr/>
        <p:txBody>
          <a:bodyPr/>
          <a:lstStyle/>
          <a:p>
            <a:fld id="{4F4417C8-C3F7-4D0A-9FEE-EECEC3E6A734}" type="datetimeFigureOut">
              <a:rPr kumimoji="1" lang="ja-JP" altLang="en-US" smtClean="0"/>
              <a:t>2026/5/26</a:t>
            </a:fld>
            <a:endParaRPr kumimoji="1" lang="ja-JP" altLang="en-US"/>
          </a:p>
        </p:txBody>
      </p:sp>
      <p:sp>
        <p:nvSpPr>
          <p:cNvPr id="3" name="页脚占位符 2">
            <a:extLst>
              <a:ext uri="{FF2B5EF4-FFF2-40B4-BE49-F238E27FC236}">
                <a16:creationId xmlns:a16="http://schemas.microsoft.com/office/drawing/2014/main" id="{1377D2AC-4E04-1C0F-BC16-B30C65C6789F}"/>
              </a:ext>
            </a:extLst>
          </p:cNvPr>
          <p:cNvSpPr>
            <a:spLocks noGrp="1"/>
          </p:cNvSpPr>
          <p:nvPr>
            <p:ph type="ftr" sz="quarter" idx="11"/>
          </p:nvPr>
        </p:nvSpPr>
        <p:spPr/>
        <p:txBody>
          <a:bodyPr/>
          <a:lstStyle/>
          <a:p>
            <a:endParaRPr kumimoji="1" lang="ja-JP" altLang="en-US"/>
          </a:p>
        </p:txBody>
      </p:sp>
      <p:sp>
        <p:nvSpPr>
          <p:cNvPr id="4" name="灯片编号占位符 3">
            <a:extLst>
              <a:ext uri="{FF2B5EF4-FFF2-40B4-BE49-F238E27FC236}">
                <a16:creationId xmlns:a16="http://schemas.microsoft.com/office/drawing/2014/main" id="{3B3A81C4-3E7E-F040-A1A8-199079775EB3}"/>
              </a:ext>
            </a:extLst>
          </p:cNvPr>
          <p:cNvSpPr>
            <a:spLocks noGrp="1"/>
          </p:cNvSpPr>
          <p:nvPr>
            <p:ph type="sldNum" sz="quarter" idx="12"/>
          </p:nvPr>
        </p:nvSpPr>
        <p:spPr/>
        <p:txBody>
          <a:bodyPr/>
          <a:lstStyle/>
          <a:p>
            <a:fld id="{6F29DF21-7D6F-403F-95B0-147FDF46BB40}" type="slidenum">
              <a:rPr kumimoji="1" lang="ja-JP" altLang="en-US" smtClean="0"/>
              <a:t>‹#›</a:t>
            </a:fld>
            <a:endParaRPr kumimoji="1" lang="ja-JP" altLang="en-US"/>
          </a:p>
        </p:txBody>
      </p:sp>
    </p:spTree>
    <p:extLst>
      <p:ext uri="{BB962C8B-B14F-4D97-AF65-F5344CB8AC3E}">
        <p14:creationId xmlns:p14="http://schemas.microsoft.com/office/powerpoint/2010/main" val="3218257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AF8AF4E-2066-B8D1-ABA1-DAF326910E22}"/>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endParaRPr kumimoji="1" lang="ja-JP" altLang="en-US"/>
          </a:p>
        </p:txBody>
      </p:sp>
      <p:sp>
        <p:nvSpPr>
          <p:cNvPr id="3" name="内容占位符 2">
            <a:extLst>
              <a:ext uri="{FF2B5EF4-FFF2-40B4-BE49-F238E27FC236}">
                <a16:creationId xmlns:a16="http://schemas.microsoft.com/office/drawing/2014/main" id="{BC67753E-E1B9-161C-7CAB-4957184BEE8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endParaRPr kumimoji="1" lang="ja-JP" altLang="en-US"/>
          </a:p>
        </p:txBody>
      </p:sp>
      <p:sp>
        <p:nvSpPr>
          <p:cNvPr id="4" name="文本占位符 3">
            <a:extLst>
              <a:ext uri="{FF2B5EF4-FFF2-40B4-BE49-F238E27FC236}">
                <a16:creationId xmlns:a16="http://schemas.microsoft.com/office/drawing/2014/main" id="{C90E80B2-8744-9DBA-56E8-A46DD70A9FD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9467934D-70A3-6897-76E3-1397AF1E7C78}"/>
              </a:ext>
            </a:extLst>
          </p:cNvPr>
          <p:cNvSpPr>
            <a:spLocks noGrp="1"/>
          </p:cNvSpPr>
          <p:nvPr>
            <p:ph type="dt" sz="half" idx="10"/>
          </p:nvPr>
        </p:nvSpPr>
        <p:spPr/>
        <p:txBody>
          <a:bodyPr/>
          <a:lstStyle/>
          <a:p>
            <a:fld id="{4F4417C8-C3F7-4D0A-9FEE-EECEC3E6A734}" type="datetimeFigureOut">
              <a:rPr kumimoji="1" lang="ja-JP" altLang="en-US" smtClean="0"/>
              <a:t>2026/5/26</a:t>
            </a:fld>
            <a:endParaRPr kumimoji="1" lang="ja-JP" altLang="en-US"/>
          </a:p>
        </p:txBody>
      </p:sp>
      <p:sp>
        <p:nvSpPr>
          <p:cNvPr id="6" name="页脚占位符 5">
            <a:extLst>
              <a:ext uri="{FF2B5EF4-FFF2-40B4-BE49-F238E27FC236}">
                <a16:creationId xmlns:a16="http://schemas.microsoft.com/office/drawing/2014/main" id="{CF24CB5A-C9B7-9273-14EF-FAB5F86119F1}"/>
              </a:ext>
            </a:extLst>
          </p:cNvPr>
          <p:cNvSpPr>
            <a:spLocks noGrp="1"/>
          </p:cNvSpPr>
          <p:nvPr>
            <p:ph type="ftr" sz="quarter" idx="11"/>
          </p:nvPr>
        </p:nvSpPr>
        <p:spPr/>
        <p:txBody>
          <a:bodyPr/>
          <a:lstStyle/>
          <a:p>
            <a:endParaRPr kumimoji="1" lang="ja-JP" altLang="en-US"/>
          </a:p>
        </p:txBody>
      </p:sp>
      <p:sp>
        <p:nvSpPr>
          <p:cNvPr id="7" name="灯片编号占位符 6">
            <a:extLst>
              <a:ext uri="{FF2B5EF4-FFF2-40B4-BE49-F238E27FC236}">
                <a16:creationId xmlns:a16="http://schemas.microsoft.com/office/drawing/2014/main" id="{AA80E660-93ED-7E97-DD95-9404D06DDC3D}"/>
              </a:ext>
            </a:extLst>
          </p:cNvPr>
          <p:cNvSpPr>
            <a:spLocks noGrp="1"/>
          </p:cNvSpPr>
          <p:nvPr>
            <p:ph type="sldNum" sz="quarter" idx="12"/>
          </p:nvPr>
        </p:nvSpPr>
        <p:spPr/>
        <p:txBody>
          <a:bodyPr/>
          <a:lstStyle/>
          <a:p>
            <a:fld id="{6F29DF21-7D6F-403F-95B0-147FDF46BB40}" type="slidenum">
              <a:rPr kumimoji="1" lang="ja-JP" altLang="en-US" smtClean="0"/>
              <a:t>‹#›</a:t>
            </a:fld>
            <a:endParaRPr kumimoji="1" lang="ja-JP" altLang="en-US"/>
          </a:p>
        </p:txBody>
      </p:sp>
    </p:spTree>
    <p:extLst>
      <p:ext uri="{BB962C8B-B14F-4D97-AF65-F5344CB8AC3E}">
        <p14:creationId xmlns:p14="http://schemas.microsoft.com/office/powerpoint/2010/main" val="25126487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01D6F82-1B77-2BF3-0663-8CE90EB43756}"/>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endParaRPr kumimoji="1" lang="ja-JP" altLang="en-US"/>
          </a:p>
        </p:txBody>
      </p:sp>
      <p:sp>
        <p:nvSpPr>
          <p:cNvPr id="3" name="图片占位符 2">
            <a:extLst>
              <a:ext uri="{FF2B5EF4-FFF2-40B4-BE49-F238E27FC236}">
                <a16:creationId xmlns:a16="http://schemas.microsoft.com/office/drawing/2014/main" id="{09E96B05-88DA-B1FA-F7A6-59F7270ED7D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文本占位符 3">
            <a:extLst>
              <a:ext uri="{FF2B5EF4-FFF2-40B4-BE49-F238E27FC236}">
                <a16:creationId xmlns:a16="http://schemas.microsoft.com/office/drawing/2014/main" id="{5DF81F96-1D01-0952-AC56-39F13352D64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9C098C13-F712-09CC-2E88-88FFAA36FBF3}"/>
              </a:ext>
            </a:extLst>
          </p:cNvPr>
          <p:cNvSpPr>
            <a:spLocks noGrp="1"/>
          </p:cNvSpPr>
          <p:nvPr>
            <p:ph type="dt" sz="half" idx="10"/>
          </p:nvPr>
        </p:nvSpPr>
        <p:spPr/>
        <p:txBody>
          <a:bodyPr/>
          <a:lstStyle/>
          <a:p>
            <a:fld id="{4F4417C8-C3F7-4D0A-9FEE-EECEC3E6A734}" type="datetimeFigureOut">
              <a:rPr kumimoji="1" lang="ja-JP" altLang="en-US" smtClean="0"/>
              <a:t>2026/5/26</a:t>
            </a:fld>
            <a:endParaRPr kumimoji="1" lang="ja-JP" altLang="en-US"/>
          </a:p>
        </p:txBody>
      </p:sp>
      <p:sp>
        <p:nvSpPr>
          <p:cNvPr id="6" name="页脚占位符 5">
            <a:extLst>
              <a:ext uri="{FF2B5EF4-FFF2-40B4-BE49-F238E27FC236}">
                <a16:creationId xmlns:a16="http://schemas.microsoft.com/office/drawing/2014/main" id="{5616A6A0-7678-A636-A1AF-1D4C7BEB0F72}"/>
              </a:ext>
            </a:extLst>
          </p:cNvPr>
          <p:cNvSpPr>
            <a:spLocks noGrp="1"/>
          </p:cNvSpPr>
          <p:nvPr>
            <p:ph type="ftr" sz="quarter" idx="11"/>
          </p:nvPr>
        </p:nvSpPr>
        <p:spPr/>
        <p:txBody>
          <a:bodyPr/>
          <a:lstStyle/>
          <a:p>
            <a:endParaRPr kumimoji="1" lang="ja-JP" altLang="en-US"/>
          </a:p>
        </p:txBody>
      </p:sp>
      <p:sp>
        <p:nvSpPr>
          <p:cNvPr id="7" name="灯片编号占位符 6">
            <a:extLst>
              <a:ext uri="{FF2B5EF4-FFF2-40B4-BE49-F238E27FC236}">
                <a16:creationId xmlns:a16="http://schemas.microsoft.com/office/drawing/2014/main" id="{0CDB747F-2DC5-0E15-2670-0D5F2F88A11B}"/>
              </a:ext>
            </a:extLst>
          </p:cNvPr>
          <p:cNvSpPr>
            <a:spLocks noGrp="1"/>
          </p:cNvSpPr>
          <p:nvPr>
            <p:ph type="sldNum" sz="quarter" idx="12"/>
          </p:nvPr>
        </p:nvSpPr>
        <p:spPr/>
        <p:txBody>
          <a:bodyPr/>
          <a:lstStyle/>
          <a:p>
            <a:fld id="{6F29DF21-7D6F-403F-95B0-147FDF46BB40}" type="slidenum">
              <a:rPr kumimoji="1" lang="ja-JP" altLang="en-US" smtClean="0"/>
              <a:t>‹#›</a:t>
            </a:fld>
            <a:endParaRPr kumimoji="1" lang="ja-JP" altLang="en-US"/>
          </a:p>
        </p:txBody>
      </p:sp>
    </p:spTree>
    <p:extLst>
      <p:ext uri="{BB962C8B-B14F-4D97-AF65-F5344CB8AC3E}">
        <p14:creationId xmlns:p14="http://schemas.microsoft.com/office/powerpoint/2010/main" val="20628261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0BA8EA5-E940-1984-0E1E-F85DCA21E914}"/>
              </a:ext>
            </a:extLst>
          </p:cNvPr>
          <p:cNvSpPr>
            <a:spLocks noGrp="1"/>
          </p:cNvSpPr>
          <p:nvPr>
            <p:ph type="title"/>
          </p:nvPr>
        </p:nvSpPr>
        <p:spPr/>
        <p:txBody>
          <a:bodyPr/>
          <a:lstStyle/>
          <a:p>
            <a:r>
              <a:rPr kumimoji="1" lang="zh-CN" altLang="en-US"/>
              <a:t>单击此处编辑母版标题样式</a:t>
            </a:r>
            <a:endParaRPr kumimoji="1" lang="ja-JP" altLang="en-US"/>
          </a:p>
        </p:txBody>
      </p:sp>
      <p:sp>
        <p:nvSpPr>
          <p:cNvPr id="3" name="竖排文字占位符 2">
            <a:extLst>
              <a:ext uri="{FF2B5EF4-FFF2-40B4-BE49-F238E27FC236}">
                <a16:creationId xmlns:a16="http://schemas.microsoft.com/office/drawing/2014/main" id="{92178EED-0D9D-FA4B-0CAD-F71847F671DC}"/>
              </a:ext>
            </a:extLst>
          </p:cNvPr>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endParaRPr kumimoji="1" lang="ja-JP" altLang="en-US"/>
          </a:p>
        </p:txBody>
      </p:sp>
      <p:sp>
        <p:nvSpPr>
          <p:cNvPr id="4" name="日期占位符 3">
            <a:extLst>
              <a:ext uri="{FF2B5EF4-FFF2-40B4-BE49-F238E27FC236}">
                <a16:creationId xmlns:a16="http://schemas.microsoft.com/office/drawing/2014/main" id="{D20B660D-5223-D71E-AFD1-C5D49513054A}"/>
              </a:ext>
            </a:extLst>
          </p:cNvPr>
          <p:cNvSpPr>
            <a:spLocks noGrp="1"/>
          </p:cNvSpPr>
          <p:nvPr>
            <p:ph type="dt" sz="half" idx="10"/>
          </p:nvPr>
        </p:nvSpPr>
        <p:spPr/>
        <p:txBody>
          <a:bodyPr/>
          <a:lstStyle/>
          <a:p>
            <a:fld id="{4F4417C8-C3F7-4D0A-9FEE-EECEC3E6A734}" type="datetimeFigureOut">
              <a:rPr kumimoji="1" lang="ja-JP" altLang="en-US" smtClean="0"/>
              <a:t>2026/5/26</a:t>
            </a:fld>
            <a:endParaRPr kumimoji="1" lang="ja-JP" altLang="en-US"/>
          </a:p>
        </p:txBody>
      </p:sp>
      <p:sp>
        <p:nvSpPr>
          <p:cNvPr id="5" name="页脚占位符 4">
            <a:extLst>
              <a:ext uri="{FF2B5EF4-FFF2-40B4-BE49-F238E27FC236}">
                <a16:creationId xmlns:a16="http://schemas.microsoft.com/office/drawing/2014/main" id="{412D10EA-0F8D-41E2-A171-B347649C16EE}"/>
              </a:ext>
            </a:extLst>
          </p:cNvPr>
          <p:cNvSpPr>
            <a:spLocks noGrp="1"/>
          </p:cNvSpPr>
          <p:nvPr>
            <p:ph type="ftr" sz="quarter" idx="11"/>
          </p:nvPr>
        </p:nvSpPr>
        <p:spPr/>
        <p:txBody>
          <a:bodyPr/>
          <a:lstStyle/>
          <a:p>
            <a:endParaRPr kumimoji="1" lang="ja-JP" altLang="en-US"/>
          </a:p>
        </p:txBody>
      </p:sp>
      <p:sp>
        <p:nvSpPr>
          <p:cNvPr id="6" name="灯片编号占位符 5">
            <a:extLst>
              <a:ext uri="{FF2B5EF4-FFF2-40B4-BE49-F238E27FC236}">
                <a16:creationId xmlns:a16="http://schemas.microsoft.com/office/drawing/2014/main" id="{96A40855-592E-2503-DFD1-A10553423EB8}"/>
              </a:ext>
            </a:extLst>
          </p:cNvPr>
          <p:cNvSpPr>
            <a:spLocks noGrp="1"/>
          </p:cNvSpPr>
          <p:nvPr>
            <p:ph type="sldNum" sz="quarter" idx="12"/>
          </p:nvPr>
        </p:nvSpPr>
        <p:spPr/>
        <p:txBody>
          <a:bodyPr/>
          <a:lstStyle/>
          <a:p>
            <a:fld id="{6F29DF21-7D6F-403F-95B0-147FDF46BB40}" type="slidenum">
              <a:rPr kumimoji="1" lang="ja-JP" altLang="en-US" smtClean="0"/>
              <a:t>‹#›</a:t>
            </a:fld>
            <a:endParaRPr kumimoji="1" lang="ja-JP" altLang="en-US"/>
          </a:p>
        </p:txBody>
      </p:sp>
    </p:spTree>
    <p:extLst>
      <p:ext uri="{BB962C8B-B14F-4D97-AF65-F5344CB8AC3E}">
        <p14:creationId xmlns:p14="http://schemas.microsoft.com/office/powerpoint/2010/main" val="23320604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9AAC7C2B-10C2-F56F-1D67-4689B70B23FF}"/>
              </a:ext>
            </a:extLst>
          </p:cNvPr>
          <p:cNvSpPr>
            <a:spLocks noGrp="1"/>
          </p:cNvSpPr>
          <p:nvPr>
            <p:ph type="title" orient="vert"/>
          </p:nvPr>
        </p:nvSpPr>
        <p:spPr>
          <a:xfrm>
            <a:off x="8724900" y="365125"/>
            <a:ext cx="2628900" cy="5811838"/>
          </a:xfrm>
        </p:spPr>
        <p:txBody>
          <a:bodyPr vert="eaVert"/>
          <a:lstStyle/>
          <a:p>
            <a:r>
              <a:rPr kumimoji="1" lang="zh-CN" altLang="en-US"/>
              <a:t>单击此处编辑母版标题样式</a:t>
            </a:r>
            <a:endParaRPr kumimoji="1" lang="ja-JP" altLang="en-US"/>
          </a:p>
        </p:txBody>
      </p:sp>
      <p:sp>
        <p:nvSpPr>
          <p:cNvPr id="3" name="竖排文字占位符 2">
            <a:extLst>
              <a:ext uri="{FF2B5EF4-FFF2-40B4-BE49-F238E27FC236}">
                <a16:creationId xmlns:a16="http://schemas.microsoft.com/office/drawing/2014/main" id="{C9932DA7-84EC-E278-B0B9-0F4B0AB09CA9}"/>
              </a:ext>
            </a:extLst>
          </p:cNvPr>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endParaRPr kumimoji="1" lang="ja-JP" altLang="en-US"/>
          </a:p>
        </p:txBody>
      </p:sp>
      <p:sp>
        <p:nvSpPr>
          <p:cNvPr id="4" name="日期占位符 3">
            <a:extLst>
              <a:ext uri="{FF2B5EF4-FFF2-40B4-BE49-F238E27FC236}">
                <a16:creationId xmlns:a16="http://schemas.microsoft.com/office/drawing/2014/main" id="{F89842BF-63C8-9751-50E5-CA1691D518AF}"/>
              </a:ext>
            </a:extLst>
          </p:cNvPr>
          <p:cNvSpPr>
            <a:spLocks noGrp="1"/>
          </p:cNvSpPr>
          <p:nvPr>
            <p:ph type="dt" sz="half" idx="10"/>
          </p:nvPr>
        </p:nvSpPr>
        <p:spPr/>
        <p:txBody>
          <a:bodyPr/>
          <a:lstStyle/>
          <a:p>
            <a:fld id="{4F4417C8-C3F7-4D0A-9FEE-EECEC3E6A734}" type="datetimeFigureOut">
              <a:rPr kumimoji="1" lang="ja-JP" altLang="en-US" smtClean="0"/>
              <a:t>2026/5/26</a:t>
            </a:fld>
            <a:endParaRPr kumimoji="1" lang="ja-JP" altLang="en-US"/>
          </a:p>
        </p:txBody>
      </p:sp>
      <p:sp>
        <p:nvSpPr>
          <p:cNvPr id="5" name="页脚占位符 4">
            <a:extLst>
              <a:ext uri="{FF2B5EF4-FFF2-40B4-BE49-F238E27FC236}">
                <a16:creationId xmlns:a16="http://schemas.microsoft.com/office/drawing/2014/main" id="{88A1F248-0717-7E24-8FFB-D5A0B18A1A52}"/>
              </a:ext>
            </a:extLst>
          </p:cNvPr>
          <p:cNvSpPr>
            <a:spLocks noGrp="1"/>
          </p:cNvSpPr>
          <p:nvPr>
            <p:ph type="ftr" sz="quarter" idx="11"/>
          </p:nvPr>
        </p:nvSpPr>
        <p:spPr/>
        <p:txBody>
          <a:bodyPr/>
          <a:lstStyle/>
          <a:p>
            <a:endParaRPr kumimoji="1" lang="ja-JP" altLang="en-US"/>
          </a:p>
        </p:txBody>
      </p:sp>
      <p:sp>
        <p:nvSpPr>
          <p:cNvPr id="6" name="灯片编号占位符 5">
            <a:extLst>
              <a:ext uri="{FF2B5EF4-FFF2-40B4-BE49-F238E27FC236}">
                <a16:creationId xmlns:a16="http://schemas.microsoft.com/office/drawing/2014/main" id="{39D3DE14-1924-4729-693F-CF817FAE8B88}"/>
              </a:ext>
            </a:extLst>
          </p:cNvPr>
          <p:cNvSpPr>
            <a:spLocks noGrp="1"/>
          </p:cNvSpPr>
          <p:nvPr>
            <p:ph type="sldNum" sz="quarter" idx="12"/>
          </p:nvPr>
        </p:nvSpPr>
        <p:spPr/>
        <p:txBody>
          <a:bodyPr/>
          <a:lstStyle/>
          <a:p>
            <a:fld id="{6F29DF21-7D6F-403F-95B0-147FDF46BB40}" type="slidenum">
              <a:rPr kumimoji="1" lang="ja-JP" altLang="en-US" smtClean="0"/>
              <a:t>‹#›</a:t>
            </a:fld>
            <a:endParaRPr kumimoji="1" lang="ja-JP" altLang="en-US"/>
          </a:p>
        </p:txBody>
      </p:sp>
    </p:spTree>
    <p:extLst>
      <p:ext uri="{BB962C8B-B14F-4D97-AF65-F5344CB8AC3E}">
        <p14:creationId xmlns:p14="http://schemas.microsoft.com/office/powerpoint/2010/main" val="19644158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12B03C5A-C9E5-A46F-ED18-FDCB90C94FE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endParaRPr kumimoji="1" lang="ja-JP" altLang="en-US"/>
          </a:p>
        </p:txBody>
      </p:sp>
      <p:sp>
        <p:nvSpPr>
          <p:cNvPr id="3" name="文本占位符 2">
            <a:extLst>
              <a:ext uri="{FF2B5EF4-FFF2-40B4-BE49-F238E27FC236}">
                <a16:creationId xmlns:a16="http://schemas.microsoft.com/office/drawing/2014/main" id="{7E2B8D9B-4C41-B411-1AB9-8F853BB84F7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endParaRPr kumimoji="1" lang="ja-JP" altLang="en-US"/>
          </a:p>
        </p:txBody>
      </p:sp>
      <p:sp>
        <p:nvSpPr>
          <p:cNvPr id="4" name="日期占位符 3">
            <a:extLst>
              <a:ext uri="{FF2B5EF4-FFF2-40B4-BE49-F238E27FC236}">
                <a16:creationId xmlns:a16="http://schemas.microsoft.com/office/drawing/2014/main" id="{FF457E0D-E48B-F7BA-D68F-BF6C2E3EF8C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F4417C8-C3F7-4D0A-9FEE-EECEC3E6A734}" type="datetimeFigureOut">
              <a:rPr kumimoji="1" lang="ja-JP" altLang="en-US" smtClean="0"/>
              <a:t>2026/5/26</a:t>
            </a:fld>
            <a:endParaRPr kumimoji="1" lang="ja-JP" altLang="en-US"/>
          </a:p>
        </p:txBody>
      </p:sp>
      <p:sp>
        <p:nvSpPr>
          <p:cNvPr id="5" name="页脚占位符 4">
            <a:extLst>
              <a:ext uri="{FF2B5EF4-FFF2-40B4-BE49-F238E27FC236}">
                <a16:creationId xmlns:a16="http://schemas.microsoft.com/office/drawing/2014/main" id="{1009D92B-6AB1-C66A-5863-9E498141E14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灯片编号占位符 5">
            <a:extLst>
              <a:ext uri="{FF2B5EF4-FFF2-40B4-BE49-F238E27FC236}">
                <a16:creationId xmlns:a16="http://schemas.microsoft.com/office/drawing/2014/main" id="{7ABB2C51-8881-BD1F-C54B-05D35EDFBEB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F29DF21-7D6F-403F-95B0-147FDF46BB40}" type="slidenum">
              <a:rPr kumimoji="1" lang="ja-JP" altLang="en-US" smtClean="0"/>
              <a:t>‹#›</a:t>
            </a:fld>
            <a:endParaRPr kumimoji="1" lang="ja-JP" altLang="en-US"/>
          </a:p>
        </p:txBody>
      </p:sp>
    </p:spTree>
    <p:extLst>
      <p:ext uri="{BB962C8B-B14F-4D97-AF65-F5344CB8AC3E}">
        <p14:creationId xmlns:p14="http://schemas.microsoft.com/office/powerpoint/2010/main" val="24590823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327A62A-D598-DBEC-B5F2-A8CCA08676DC}"/>
              </a:ext>
            </a:extLst>
          </p:cNvPr>
          <p:cNvSpPr>
            <a:spLocks noGrp="1"/>
          </p:cNvSpPr>
          <p:nvPr>
            <p:ph type="ctrTitle"/>
          </p:nvPr>
        </p:nvSpPr>
        <p:spPr>
          <a:xfrm>
            <a:off x="1524000" y="1672489"/>
            <a:ext cx="9144000" cy="2479675"/>
          </a:xfrm>
        </p:spPr>
        <p:txBody>
          <a:bodyPr>
            <a:normAutofit fontScale="90000"/>
          </a:bodyPr>
          <a:lstStyle/>
          <a:p>
            <a:r>
              <a:rPr lang="en-US" altLang="ja-JP" dirty="0"/>
              <a:t>Methods for Cleaning Qualitative Research Data</a:t>
            </a:r>
            <a:br>
              <a:rPr lang="en-US" altLang="ja-JP" dirty="0"/>
            </a:br>
            <a:r>
              <a:rPr lang="en-US" altLang="ja-JP" sz="3600" dirty="0"/>
              <a:t>(How can Python and AI help Text Mining work)</a:t>
            </a:r>
            <a:endParaRPr kumimoji="1" lang="ja-JP" altLang="en-US" sz="3600" dirty="0"/>
          </a:p>
        </p:txBody>
      </p:sp>
      <p:sp>
        <p:nvSpPr>
          <p:cNvPr id="3" name="副标题 2">
            <a:extLst>
              <a:ext uri="{FF2B5EF4-FFF2-40B4-BE49-F238E27FC236}">
                <a16:creationId xmlns:a16="http://schemas.microsoft.com/office/drawing/2014/main" id="{5BB7CC31-C16F-91C0-10FB-3CA06EAF47E0}"/>
              </a:ext>
            </a:extLst>
          </p:cNvPr>
          <p:cNvSpPr>
            <a:spLocks noGrp="1"/>
          </p:cNvSpPr>
          <p:nvPr>
            <p:ph type="subTitle" idx="1"/>
          </p:nvPr>
        </p:nvSpPr>
        <p:spPr>
          <a:xfrm>
            <a:off x="1524000" y="4323150"/>
            <a:ext cx="9144000" cy="1655762"/>
          </a:xfrm>
        </p:spPr>
        <p:txBody>
          <a:bodyPr/>
          <a:lstStyle/>
          <a:p>
            <a:r>
              <a:rPr kumimoji="1" lang="en-US" altLang="ja-JP" dirty="0"/>
              <a:t>Presented by SHANG Wenxuan</a:t>
            </a:r>
          </a:p>
          <a:p>
            <a:r>
              <a:rPr lang="en-US" altLang="ja-JP" dirty="0"/>
              <a:t>2026.05.14</a:t>
            </a:r>
            <a:endParaRPr kumimoji="1" lang="ja-JP" altLang="en-US" dirty="0"/>
          </a:p>
        </p:txBody>
      </p:sp>
    </p:spTree>
    <p:extLst>
      <p:ext uri="{BB962C8B-B14F-4D97-AF65-F5344CB8AC3E}">
        <p14:creationId xmlns:p14="http://schemas.microsoft.com/office/powerpoint/2010/main" val="14823178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359F0F-B8C7-7DBB-DA36-47944B7FFCCE}"/>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DABC997-8418-F041-D76F-E3210FAA6030}"/>
              </a:ext>
            </a:extLst>
          </p:cNvPr>
          <p:cNvSpPr>
            <a:spLocks noGrp="1"/>
          </p:cNvSpPr>
          <p:nvPr>
            <p:ph type="ctrTitle"/>
          </p:nvPr>
        </p:nvSpPr>
        <p:spPr>
          <a:xfrm>
            <a:off x="1524000" y="1072376"/>
            <a:ext cx="9144000" cy="1131036"/>
          </a:xfrm>
        </p:spPr>
        <p:txBody>
          <a:bodyPr/>
          <a:lstStyle/>
          <a:p>
            <a:pPr algn="l"/>
            <a:r>
              <a:rPr kumimoji="1" lang="en-US" altLang="ja-JP" dirty="0"/>
              <a:t>Structure</a:t>
            </a:r>
            <a:endParaRPr kumimoji="1" lang="ja-JP" altLang="en-US" dirty="0"/>
          </a:p>
        </p:txBody>
      </p:sp>
      <p:sp>
        <p:nvSpPr>
          <p:cNvPr id="3" name="副标题 2">
            <a:extLst>
              <a:ext uri="{FF2B5EF4-FFF2-40B4-BE49-F238E27FC236}">
                <a16:creationId xmlns:a16="http://schemas.microsoft.com/office/drawing/2014/main" id="{56997391-785E-CE2D-EE79-D80F7F3558EE}"/>
              </a:ext>
            </a:extLst>
          </p:cNvPr>
          <p:cNvSpPr>
            <a:spLocks noGrp="1"/>
          </p:cNvSpPr>
          <p:nvPr>
            <p:ph type="subTitle" idx="1"/>
          </p:nvPr>
        </p:nvSpPr>
        <p:spPr>
          <a:xfrm>
            <a:off x="1524000" y="2483004"/>
            <a:ext cx="9144000" cy="3302620"/>
          </a:xfrm>
        </p:spPr>
        <p:txBody>
          <a:bodyPr/>
          <a:lstStyle/>
          <a:p>
            <a:pPr marL="457200" indent="-457200" algn="l">
              <a:buAutoNum type="arabicPeriod"/>
            </a:pPr>
            <a:r>
              <a:rPr kumimoji="1" lang="en-US" altLang="ja-JP" dirty="0"/>
              <a:t>The Problem</a:t>
            </a:r>
          </a:p>
          <a:p>
            <a:pPr marL="457200" indent="-457200" algn="l">
              <a:buAutoNum type="arabicPeriod"/>
            </a:pPr>
            <a:r>
              <a:rPr lang="en-US" altLang="ja-JP" dirty="0"/>
              <a:t>OCR Methods</a:t>
            </a:r>
          </a:p>
          <a:p>
            <a:pPr marL="457200" indent="-457200" algn="l">
              <a:buAutoNum type="arabicPeriod"/>
            </a:pPr>
            <a:r>
              <a:rPr kumimoji="1" lang="en-US" altLang="ja-JP" dirty="0"/>
              <a:t>Text Denoising</a:t>
            </a:r>
          </a:p>
          <a:p>
            <a:pPr marL="457200" indent="-457200" algn="l">
              <a:buAutoNum type="arabicPeriod"/>
            </a:pPr>
            <a:r>
              <a:rPr kumimoji="1" lang="en-US" altLang="ja-JP" dirty="0"/>
              <a:t>AI Purpose and Boundary</a:t>
            </a:r>
          </a:p>
          <a:p>
            <a:pPr marL="457200" indent="-457200">
              <a:buAutoNum type="arabicPeriod"/>
            </a:pPr>
            <a:endParaRPr kumimoji="1" lang="ja-JP" altLang="en-US" dirty="0"/>
          </a:p>
        </p:txBody>
      </p:sp>
    </p:spTree>
    <p:extLst>
      <p:ext uri="{BB962C8B-B14F-4D97-AF65-F5344CB8AC3E}">
        <p14:creationId xmlns:p14="http://schemas.microsoft.com/office/powerpoint/2010/main" val="17884384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738AD3-6752-A4B1-C246-361BE1B020C9}"/>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6ECE388-C505-6C26-6A9C-E93B11AA6A42}"/>
              </a:ext>
            </a:extLst>
          </p:cNvPr>
          <p:cNvSpPr>
            <a:spLocks noGrp="1"/>
          </p:cNvSpPr>
          <p:nvPr>
            <p:ph type="ctrTitle"/>
          </p:nvPr>
        </p:nvSpPr>
        <p:spPr>
          <a:xfrm>
            <a:off x="1524000" y="2863482"/>
            <a:ext cx="9144000" cy="1131036"/>
          </a:xfrm>
        </p:spPr>
        <p:txBody>
          <a:bodyPr/>
          <a:lstStyle/>
          <a:p>
            <a:pPr algn="l"/>
            <a:r>
              <a:rPr lang="en-US" altLang="ja-JP" dirty="0"/>
              <a:t>1. The Problem</a:t>
            </a:r>
            <a:endParaRPr kumimoji="1" lang="ja-JP" altLang="en-US" dirty="0"/>
          </a:p>
        </p:txBody>
      </p:sp>
    </p:spTree>
    <p:extLst>
      <p:ext uri="{BB962C8B-B14F-4D97-AF65-F5344CB8AC3E}">
        <p14:creationId xmlns:p14="http://schemas.microsoft.com/office/powerpoint/2010/main" val="25923001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15295EA-1B6D-58D5-DF15-E89EB7F5416F}"/>
              </a:ext>
            </a:extLst>
          </p:cNvPr>
          <p:cNvSpPr>
            <a:spLocks noGrp="1"/>
          </p:cNvSpPr>
          <p:nvPr>
            <p:ph type="title"/>
          </p:nvPr>
        </p:nvSpPr>
        <p:spPr/>
        <p:txBody>
          <a:bodyPr/>
          <a:lstStyle/>
          <a:p>
            <a:r>
              <a:rPr kumimoji="1" lang="en-US" altLang="ja-JP" dirty="0"/>
              <a:t>1.1 About Text Mining and Coding</a:t>
            </a:r>
            <a:endParaRPr kumimoji="1" lang="ja-JP" altLang="en-US" dirty="0"/>
          </a:p>
        </p:txBody>
      </p:sp>
      <p:sp>
        <p:nvSpPr>
          <p:cNvPr id="3" name="内容占位符 2">
            <a:extLst>
              <a:ext uri="{FF2B5EF4-FFF2-40B4-BE49-F238E27FC236}">
                <a16:creationId xmlns:a16="http://schemas.microsoft.com/office/drawing/2014/main" id="{D9CD64C4-0460-920F-BA5B-E0A4B5848DB1}"/>
              </a:ext>
            </a:extLst>
          </p:cNvPr>
          <p:cNvSpPr>
            <a:spLocks noGrp="1"/>
          </p:cNvSpPr>
          <p:nvPr>
            <p:ph idx="1"/>
          </p:nvPr>
        </p:nvSpPr>
        <p:spPr/>
        <p:txBody>
          <a:bodyPr/>
          <a:lstStyle/>
          <a:p>
            <a:r>
              <a:rPr lang="en-US" altLang="ja-JP" dirty="0"/>
              <a:t>It refers to systematic extraction of core issues/expressions from EIA materials.</a:t>
            </a:r>
          </a:p>
          <a:p>
            <a:r>
              <a:rPr kumimoji="1" lang="en-US" altLang="ja-JP" dirty="0"/>
              <a:t>Then</a:t>
            </a:r>
            <a:r>
              <a:rPr lang="en-US" altLang="ja-JP" dirty="0"/>
              <a:t>, with three-level coding (open, axial, selective), transform textual data into structured analytical framework.</a:t>
            </a:r>
          </a:p>
          <a:p>
            <a:r>
              <a:rPr kumimoji="1" lang="en-US" altLang="ja-JP" dirty="0"/>
              <a:t>Network visualization and stake</a:t>
            </a:r>
            <a:r>
              <a:rPr lang="en-US" altLang="ja-JP" dirty="0"/>
              <a:t>holder dynamics.</a:t>
            </a:r>
          </a:p>
          <a:p>
            <a:r>
              <a:rPr kumimoji="1" lang="en-US" altLang="ja-JP" dirty="0" err="1"/>
              <a:t>Nvivo</a:t>
            </a:r>
            <a:r>
              <a:rPr kumimoji="1" lang="en-US" altLang="ja-JP" dirty="0"/>
              <a:t> is a frequently used software for this qualitative research.</a:t>
            </a:r>
            <a:endParaRPr kumimoji="1" lang="ja-JP" altLang="en-US" dirty="0"/>
          </a:p>
        </p:txBody>
      </p:sp>
      <p:pic>
        <p:nvPicPr>
          <p:cNvPr id="1026" name="Picture 2" descr="No alt text provided for this image">
            <a:extLst>
              <a:ext uri="{FF2B5EF4-FFF2-40B4-BE49-F238E27FC236}">
                <a16:creationId xmlns:a16="http://schemas.microsoft.com/office/drawing/2014/main" id="{FC3E8B64-53EC-D3F2-5446-4D38738D2EF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15016" y="1891178"/>
            <a:ext cx="6081450" cy="4285785"/>
          </a:xfrm>
          <a:prstGeom prst="rect">
            <a:avLst/>
          </a:prstGeom>
          <a:noFill/>
          <a:extLst>
            <a:ext uri="{909E8E84-426E-40DD-AFC4-6F175D3DCCD1}">
              <a14:hiddenFill xmlns:a14="http://schemas.microsoft.com/office/drawing/2010/main">
                <a:solidFill>
                  <a:srgbClr val="FFFFFF"/>
                </a:solidFill>
              </a14:hiddenFill>
            </a:ext>
          </a:extLst>
        </p:spPr>
      </p:pic>
      <p:sp>
        <p:nvSpPr>
          <p:cNvPr id="4" name="文本框 3">
            <a:extLst>
              <a:ext uri="{FF2B5EF4-FFF2-40B4-BE49-F238E27FC236}">
                <a16:creationId xmlns:a16="http://schemas.microsoft.com/office/drawing/2014/main" id="{EAA7C2F4-ED0B-5F2B-98A5-78B526DA7AC1}"/>
              </a:ext>
            </a:extLst>
          </p:cNvPr>
          <p:cNvSpPr txBox="1"/>
          <p:nvPr/>
        </p:nvSpPr>
        <p:spPr>
          <a:xfrm>
            <a:off x="1576039" y="6176963"/>
            <a:ext cx="9720427" cy="646331"/>
          </a:xfrm>
          <a:prstGeom prst="rect">
            <a:avLst/>
          </a:prstGeom>
          <a:noFill/>
        </p:spPr>
        <p:txBody>
          <a:bodyPr wrap="square" rtlCol="0">
            <a:spAutoFit/>
          </a:bodyPr>
          <a:lstStyle/>
          <a:p>
            <a:r>
              <a:rPr lang="en-US" altLang="ja-JP" dirty="0"/>
              <a:t>Williams, M., &amp; Moser, T. (2019). The art of coding and thematic exploration in qualitative research. </a:t>
            </a:r>
            <a:r>
              <a:rPr lang="en-US" altLang="ja-JP" i="1" dirty="0"/>
              <a:t>International Management Review, 15</a:t>
            </a:r>
            <a:r>
              <a:rPr lang="en-US" altLang="ja-JP" dirty="0"/>
              <a:t>(1), 45–55.</a:t>
            </a:r>
            <a:endParaRPr kumimoji="1" lang="ja-JP" altLang="en-US" dirty="0"/>
          </a:p>
        </p:txBody>
      </p:sp>
    </p:spTree>
    <p:extLst>
      <p:ext uri="{BB962C8B-B14F-4D97-AF65-F5344CB8AC3E}">
        <p14:creationId xmlns:p14="http://schemas.microsoft.com/office/powerpoint/2010/main" val="38288576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2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FAD4269-00BC-037A-F6F5-888E5F01A806}"/>
              </a:ext>
            </a:extLst>
          </p:cNvPr>
          <p:cNvSpPr>
            <a:spLocks noGrp="1"/>
          </p:cNvSpPr>
          <p:nvPr>
            <p:ph type="title"/>
          </p:nvPr>
        </p:nvSpPr>
        <p:spPr/>
        <p:txBody>
          <a:bodyPr/>
          <a:lstStyle/>
          <a:p>
            <a:r>
              <a:rPr kumimoji="1" lang="en-US" altLang="ja-JP" dirty="0"/>
              <a:t>1.2 File Types</a:t>
            </a:r>
            <a:endParaRPr kumimoji="1" lang="ja-JP" altLang="en-US" dirty="0"/>
          </a:p>
        </p:txBody>
      </p:sp>
      <p:sp>
        <p:nvSpPr>
          <p:cNvPr id="3" name="内容占位符 2">
            <a:extLst>
              <a:ext uri="{FF2B5EF4-FFF2-40B4-BE49-F238E27FC236}">
                <a16:creationId xmlns:a16="http://schemas.microsoft.com/office/drawing/2014/main" id="{BAC6C18C-A824-83ED-5115-1DA078227FA5}"/>
              </a:ext>
            </a:extLst>
          </p:cNvPr>
          <p:cNvSpPr>
            <a:spLocks noGrp="1"/>
          </p:cNvSpPr>
          <p:nvPr>
            <p:ph idx="1"/>
          </p:nvPr>
        </p:nvSpPr>
        <p:spPr/>
        <p:txBody>
          <a:bodyPr/>
          <a:lstStyle/>
          <a:p>
            <a:r>
              <a:rPr kumimoji="1" lang="en-US" altLang="ja-JP" dirty="0"/>
              <a:t>(1)</a:t>
            </a:r>
            <a:r>
              <a:rPr lang="en-US" altLang="ja-JP" dirty="0"/>
              <a:t>	Printed text with a text layer (pre-processed via OCR, Word to PDF) , </a:t>
            </a:r>
            <a:r>
              <a:rPr lang="en-US" altLang="ja-JP" dirty="0">
                <a:solidFill>
                  <a:schemeClr val="accent1"/>
                </a:solidFill>
              </a:rPr>
              <a:t>which can be recognized directly by </a:t>
            </a:r>
            <a:r>
              <a:rPr lang="en-US" altLang="ja-JP" dirty="0" err="1">
                <a:solidFill>
                  <a:schemeClr val="accent1"/>
                </a:solidFill>
              </a:rPr>
              <a:t>Nvivo</a:t>
            </a:r>
            <a:r>
              <a:rPr lang="en-US" altLang="ja-JP" dirty="0">
                <a:solidFill>
                  <a:schemeClr val="accent1"/>
                </a:solidFill>
              </a:rPr>
              <a:t>.</a:t>
            </a:r>
          </a:p>
          <a:p>
            <a:r>
              <a:rPr lang="en-US" altLang="ja-JP" dirty="0"/>
              <a:t>(2)	Printed text without a text layer (image) </a:t>
            </a:r>
            <a:r>
              <a:rPr lang="en-US" altLang="ja-JP" dirty="0">
                <a:solidFill>
                  <a:schemeClr val="accent1"/>
                </a:solidFill>
              </a:rPr>
              <a:t>– Cloud Vision API</a:t>
            </a:r>
          </a:p>
          <a:p>
            <a:r>
              <a:rPr lang="en-US" altLang="ja-JP" dirty="0"/>
              <a:t>(3)	Handwritten text or mixed text without a text layer (image) </a:t>
            </a:r>
            <a:r>
              <a:rPr lang="en-US" altLang="ja-JP" dirty="0">
                <a:solidFill>
                  <a:schemeClr val="accent1"/>
                </a:solidFill>
              </a:rPr>
              <a:t>– Gemini API (Gemini 3 Flash/Gemini 2.5 Flash Lite)</a:t>
            </a:r>
            <a:endParaRPr kumimoji="1" lang="en-US" altLang="ja-JP" dirty="0">
              <a:solidFill>
                <a:schemeClr val="accent1"/>
              </a:solidFill>
            </a:endParaRPr>
          </a:p>
        </p:txBody>
      </p:sp>
    </p:spTree>
    <p:extLst>
      <p:ext uri="{BB962C8B-B14F-4D97-AF65-F5344CB8AC3E}">
        <p14:creationId xmlns:p14="http://schemas.microsoft.com/office/powerpoint/2010/main" val="32944597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E177867-DBEC-3E95-7BD8-172EF9C89886}"/>
              </a:ext>
            </a:extLst>
          </p:cNvPr>
          <p:cNvSpPr>
            <a:spLocks noGrp="1"/>
          </p:cNvSpPr>
          <p:nvPr>
            <p:ph type="title"/>
          </p:nvPr>
        </p:nvSpPr>
        <p:spPr/>
        <p:txBody>
          <a:bodyPr/>
          <a:lstStyle/>
          <a:p>
            <a:r>
              <a:rPr kumimoji="1" lang="en-US" altLang="ja-JP" dirty="0"/>
              <a:t>1.3 </a:t>
            </a:r>
            <a:r>
              <a:rPr kumimoji="1" lang="en-US" altLang="ja-JP" dirty="0" err="1"/>
              <a:t>Nvivo</a:t>
            </a:r>
            <a:r>
              <a:rPr kumimoji="1" lang="en-US" altLang="ja-JP" dirty="0"/>
              <a:t> characteristics and </a:t>
            </a:r>
            <a:r>
              <a:rPr lang="en-US" altLang="ja-JP" dirty="0"/>
              <a:t>file c</a:t>
            </a:r>
            <a:r>
              <a:rPr kumimoji="1" lang="en-US" altLang="ja-JP" dirty="0"/>
              <a:t>orresponding conditions (1)</a:t>
            </a:r>
            <a:endParaRPr kumimoji="1" lang="ja-JP" altLang="en-US" dirty="0"/>
          </a:p>
        </p:txBody>
      </p:sp>
      <p:sp>
        <p:nvSpPr>
          <p:cNvPr id="3" name="内容占位符 2">
            <a:extLst>
              <a:ext uri="{FF2B5EF4-FFF2-40B4-BE49-F238E27FC236}">
                <a16:creationId xmlns:a16="http://schemas.microsoft.com/office/drawing/2014/main" id="{D889773F-63FC-4154-B24E-43D55F228A9C}"/>
              </a:ext>
            </a:extLst>
          </p:cNvPr>
          <p:cNvSpPr>
            <a:spLocks noGrp="1"/>
          </p:cNvSpPr>
          <p:nvPr>
            <p:ph idx="1"/>
          </p:nvPr>
        </p:nvSpPr>
        <p:spPr/>
        <p:txBody>
          <a:bodyPr/>
          <a:lstStyle/>
          <a:p>
            <a:r>
              <a:rPr kumimoji="1" lang="en-US" altLang="ja-JP" dirty="0" err="1"/>
              <a:t>Nvivo</a:t>
            </a:r>
            <a:r>
              <a:rPr kumimoji="1" lang="en-US" altLang="ja-JP" dirty="0"/>
              <a:t> do not have OCR (Text Recognition) tools.</a:t>
            </a:r>
          </a:p>
          <a:p>
            <a:r>
              <a:rPr lang="en-US" altLang="ja-JP" dirty="0"/>
              <a:t>For qualitative research and text mining, text must be recognized.</a:t>
            </a:r>
          </a:p>
          <a:p>
            <a:pPr marL="0" indent="0">
              <a:buNone/>
            </a:pPr>
            <a:r>
              <a:rPr kumimoji="1" lang="en-US" altLang="ja-JP" dirty="0"/>
              <a:t>  What does this mean? </a:t>
            </a:r>
            <a:endParaRPr kumimoji="1" lang="ja-JP" altLang="en-US" dirty="0"/>
          </a:p>
        </p:txBody>
      </p:sp>
      <p:pic>
        <p:nvPicPr>
          <p:cNvPr id="21" name="图片 20">
            <a:extLst>
              <a:ext uri="{FF2B5EF4-FFF2-40B4-BE49-F238E27FC236}">
                <a16:creationId xmlns:a16="http://schemas.microsoft.com/office/drawing/2014/main" id="{1666F801-9FBA-A999-9CD0-821FEAEF3EF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0361" y="260195"/>
            <a:ext cx="9750342" cy="5783908"/>
          </a:xfrm>
          <a:prstGeom prst="rect">
            <a:avLst/>
          </a:prstGeom>
        </p:spPr>
      </p:pic>
      <p:pic>
        <p:nvPicPr>
          <p:cNvPr id="23" name="图片 22">
            <a:extLst>
              <a:ext uri="{FF2B5EF4-FFF2-40B4-BE49-F238E27FC236}">
                <a16:creationId xmlns:a16="http://schemas.microsoft.com/office/drawing/2014/main" id="{3C58AD49-F4FE-1209-53E9-2C5B7483FDB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24026" y="306658"/>
            <a:ext cx="6643720" cy="6169846"/>
          </a:xfrm>
          <a:prstGeom prst="rect">
            <a:avLst/>
          </a:prstGeom>
        </p:spPr>
      </p:pic>
      <p:pic>
        <p:nvPicPr>
          <p:cNvPr id="25" name="图片 24">
            <a:extLst>
              <a:ext uri="{FF2B5EF4-FFF2-40B4-BE49-F238E27FC236}">
                <a16:creationId xmlns:a16="http://schemas.microsoft.com/office/drawing/2014/main" id="{CFF79F95-A340-321B-C42D-E71D3DDA44E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66079" y="813898"/>
            <a:ext cx="9745743" cy="5823072"/>
          </a:xfrm>
          <a:prstGeom prst="rect">
            <a:avLst/>
          </a:prstGeom>
        </p:spPr>
      </p:pic>
    </p:spTree>
    <p:extLst>
      <p:ext uri="{BB962C8B-B14F-4D97-AF65-F5344CB8AC3E}">
        <p14:creationId xmlns:p14="http://schemas.microsoft.com/office/powerpoint/2010/main" val="34861460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ADAE6B-47EF-E55C-90ED-9972887FC98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CB07541-C321-973F-0CB2-637CEE0BD275}"/>
              </a:ext>
            </a:extLst>
          </p:cNvPr>
          <p:cNvSpPr>
            <a:spLocks noGrp="1"/>
          </p:cNvSpPr>
          <p:nvPr>
            <p:ph type="title"/>
          </p:nvPr>
        </p:nvSpPr>
        <p:spPr/>
        <p:txBody>
          <a:bodyPr/>
          <a:lstStyle/>
          <a:p>
            <a:r>
              <a:rPr kumimoji="1" lang="en-US" altLang="ja-JP" dirty="0"/>
              <a:t>1.3 </a:t>
            </a:r>
            <a:r>
              <a:rPr kumimoji="1" lang="en-US" altLang="ja-JP" dirty="0" err="1"/>
              <a:t>Nvivo</a:t>
            </a:r>
            <a:r>
              <a:rPr kumimoji="1" lang="en-US" altLang="ja-JP" dirty="0"/>
              <a:t> characteristics and </a:t>
            </a:r>
            <a:r>
              <a:rPr lang="en-US" altLang="ja-JP" dirty="0"/>
              <a:t>file c</a:t>
            </a:r>
            <a:r>
              <a:rPr kumimoji="1" lang="en-US" altLang="ja-JP" dirty="0"/>
              <a:t>orresponding conditions (1)</a:t>
            </a:r>
            <a:endParaRPr kumimoji="1" lang="ja-JP" altLang="en-US" dirty="0"/>
          </a:p>
        </p:txBody>
      </p:sp>
      <p:sp>
        <p:nvSpPr>
          <p:cNvPr id="3" name="内容占位符 2">
            <a:extLst>
              <a:ext uri="{FF2B5EF4-FFF2-40B4-BE49-F238E27FC236}">
                <a16:creationId xmlns:a16="http://schemas.microsoft.com/office/drawing/2014/main" id="{86753EB7-AB8B-7D4E-D496-C397AF41F835}"/>
              </a:ext>
            </a:extLst>
          </p:cNvPr>
          <p:cNvSpPr>
            <a:spLocks noGrp="1"/>
          </p:cNvSpPr>
          <p:nvPr>
            <p:ph idx="1"/>
          </p:nvPr>
        </p:nvSpPr>
        <p:spPr>
          <a:xfrm>
            <a:off x="838200" y="1825625"/>
            <a:ext cx="10515600" cy="4738726"/>
          </a:xfrm>
        </p:spPr>
        <p:txBody>
          <a:bodyPr>
            <a:normAutofit lnSpcReduction="10000"/>
          </a:bodyPr>
          <a:lstStyle/>
          <a:p>
            <a:r>
              <a:rPr kumimoji="1" lang="en-US" altLang="ja-JP" dirty="0" err="1"/>
              <a:t>Nvivo</a:t>
            </a:r>
            <a:r>
              <a:rPr kumimoji="1" lang="en-US" altLang="ja-JP" dirty="0"/>
              <a:t> do not have OCR (Text Recognition) tools.</a:t>
            </a:r>
          </a:p>
          <a:p>
            <a:r>
              <a:rPr lang="en-US" altLang="ja-JP" dirty="0"/>
              <a:t>For qualitative research and text mining, text must be recognized.</a:t>
            </a:r>
          </a:p>
          <a:p>
            <a:pPr marL="0" indent="0">
              <a:buNone/>
            </a:pPr>
            <a:r>
              <a:rPr kumimoji="1" lang="en-US" altLang="ja-JP" dirty="0"/>
              <a:t>  What does this mean? </a:t>
            </a:r>
          </a:p>
          <a:p>
            <a:pPr marL="0" indent="0">
              <a:buNone/>
            </a:pPr>
            <a:r>
              <a:rPr lang="en-US" altLang="ja-JP" dirty="0"/>
              <a:t>  </a:t>
            </a:r>
            <a:r>
              <a:rPr kumimoji="1" lang="en-US" altLang="ja-JP" dirty="0"/>
              <a:t>Region Coding cannot be used. </a:t>
            </a:r>
            <a:r>
              <a:rPr lang="en-US" altLang="ja-JP" dirty="0"/>
              <a:t>Because we need automated word frequency analysis, cross-text search in the future.</a:t>
            </a:r>
          </a:p>
          <a:p>
            <a:pPr marL="0" indent="0">
              <a:buNone/>
            </a:pPr>
            <a:r>
              <a:rPr lang="en-US" altLang="ja-JP" dirty="0"/>
              <a:t>Therefore,</a:t>
            </a:r>
          </a:p>
          <a:p>
            <a:r>
              <a:rPr lang="en-US" altLang="ja-JP" dirty="0"/>
              <a:t>(1)	Printed text with a text layer – </a:t>
            </a:r>
            <a:r>
              <a:rPr lang="en-US" altLang="ja-JP" dirty="0" err="1">
                <a:solidFill>
                  <a:srgbClr val="FF0000"/>
                </a:solidFill>
              </a:rPr>
              <a:t>Nvivo</a:t>
            </a:r>
            <a:r>
              <a:rPr lang="en-US" altLang="ja-JP" dirty="0">
                <a:solidFill>
                  <a:srgbClr val="FF0000"/>
                </a:solidFill>
              </a:rPr>
              <a:t> no problem</a:t>
            </a:r>
            <a:r>
              <a:rPr lang="en-US" altLang="ja-JP" dirty="0"/>
              <a:t>.</a:t>
            </a:r>
          </a:p>
          <a:p>
            <a:r>
              <a:rPr lang="en-US" altLang="ja-JP" dirty="0"/>
              <a:t>(2)	Printed text without a text layer – </a:t>
            </a:r>
            <a:r>
              <a:rPr lang="en-US" altLang="ja-JP" dirty="0">
                <a:solidFill>
                  <a:srgbClr val="FF0000"/>
                </a:solidFill>
              </a:rPr>
              <a:t>Need OCR</a:t>
            </a:r>
          </a:p>
          <a:p>
            <a:r>
              <a:rPr lang="en-US" altLang="ja-JP" dirty="0"/>
              <a:t>(3)	Handwritten text or mixed text without a text layer – </a:t>
            </a:r>
            <a:r>
              <a:rPr lang="en-US" altLang="ja-JP" dirty="0">
                <a:solidFill>
                  <a:srgbClr val="FF0000"/>
                </a:solidFill>
              </a:rPr>
              <a:t>Need intelligent OCR</a:t>
            </a:r>
          </a:p>
          <a:p>
            <a:pPr marL="0" indent="0">
              <a:buNone/>
            </a:pPr>
            <a:endParaRPr kumimoji="1" lang="ja-JP" altLang="en-US" dirty="0"/>
          </a:p>
        </p:txBody>
      </p:sp>
    </p:spTree>
    <p:extLst>
      <p:ext uri="{BB962C8B-B14F-4D97-AF65-F5344CB8AC3E}">
        <p14:creationId xmlns:p14="http://schemas.microsoft.com/office/powerpoint/2010/main" val="6771878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5CF215-A53F-BA4C-8B96-0A86E1621E8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EEE54A34-450A-2E60-CB41-8266CE048211}"/>
              </a:ext>
            </a:extLst>
          </p:cNvPr>
          <p:cNvSpPr>
            <a:spLocks noGrp="1"/>
          </p:cNvSpPr>
          <p:nvPr>
            <p:ph type="title"/>
          </p:nvPr>
        </p:nvSpPr>
        <p:spPr/>
        <p:txBody>
          <a:bodyPr/>
          <a:lstStyle/>
          <a:p>
            <a:r>
              <a:rPr kumimoji="1" lang="en-US" altLang="ja-JP" dirty="0"/>
              <a:t>1.3 </a:t>
            </a:r>
            <a:r>
              <a:rPr kumimoji="1" lang="en-US" altLang="ja-JP" dirty="0" err="1"/>
              <a:t>Nvivo</a:t>
            </a:r>
            <a:r>
              <a:rPr kumimoji="1" lang="en-US" altLang="ja-JP" dirty="0"/>
              <a:t> characteristics and </a:t>
            </a:r>
            <a:r>
              <a:rPr lang="en-US" altLang="ja-JP" dirty="0"/>
              <a:t>file c</a:t>
            </a:r>
            <a:r>
              <a:rPr kumimoji="1" lang="en-US" altLang="ja-JP" dirty="0"/>
              <a:t>orresponding conditions (2)</a:t>
            </a:r>
            <a:endParaRPr kumimoji="1" lang="ja-JP" altLang="en-US" dirty="0"/>
          </a:p>
        </p:txBody>
      </p:sp>
      <p:sp>
        <p:nvSpPr>
          <p:cNvPr id="3" name="内容占位符 2">
            <a:extLst>
              <a:ext uri="{FF2B5EF4-FFF2-40B4-BE49-F238E27FC236}">
                <a16:creationId xmlns:a16="http://schemas.microsoft.com/office/drawing/2014/main" id="{EEC6EA81-795D-CA72-A46F-6F514E9E7E2F}"/>
              </a:ext>
            </a:extLst>
          </p:cNvPr>
          <p:cNvSpPr>
            <a:spLocks noGrp="1"/>
          </p:cNvSpPr>
          <p:nvPr>
            <p:ph idx="1"/>
          </p:nvPr>
        </p:nvSpPr>
        <p:spPr>
          <a:xfrm>
            <a:off x="838200" y="1825625"/>
            <a:ext cx="10937488" cy="4738726"/>
          </a:xfrm>
        </p:spPr>
        <p:txBody>
          <a:bodyPr>
            <a:normAutofit lnSpcReduction="10000"/>
          </a:bodyPr>
          <a:lstStyle/>
          <a:p>
            <a:r>
              <a:rPr lang="en-US" altLang="ja-JP" b="1" dirty="0"/>
              <a:t>Text noise </a:t>
            </a:r>
            <a:r>
              <a:rPr lang="en-US" altLang="ja-JP" dirty="0"/>
              <a:t>can interfere with NVIVO</a:t>
            </a:r>
          </a:p>
          <a:p>
            <a:pPr marL="0" indent="0">
              <a:buNone/>
            </a:pPr>
            <a:r>
              <a:rPr kumimoji="1" lang="en-US" altLang="ja-JP" dirty="0"/>
              <a:t>  </a:t>
            </a:r>
            <a:r>
              <a:rPr lang="en-US" altLang="ja-JP" dirty="0"/>
              <a:t>For example, </a:t>
            </a:r>
          </a:p>
          <a:p>
            <a:pPr marL="514350" indent="-514350">
              <a:buAutoNum type="arabicParenBoth"/>
            </a:pPr>
            <a:r>
              <a:rPr lang="en-US" altLang="ja-JP" dirty="0"/>
              <a:t>Word Frequency Pollution (High-frequency chatter: “page”; Header Title……)</a:t>
            </a:r>
          </a:p>
          <a:p>
            <a:pPr marL="514350" indent="-514350">
              <a:buAutoNum type="arabicParenBoth"/>
            </a:pPr>
            <a:r>
              <a:rPr lang="en-US" altLang="ja-JP" dirty="0"/>
              <a:t>Semantic Disruption (Forced Line Break; Page numbers appear in the sentence……)</a:t>
            </a:r>
          </a:p>
          <a:p>
            <a:pPr marL="0" indent="0">
              <a:buNone/>
            </a:pPr>
            <a:r>
              <a:rPr kumimoji="1" lang="en-US" altLang="ja-JP" dirty="0"/>
              <a:t>Solution?</a:t>
            </a:r>
          </a:p>
          <a:p>
            <a:pPr marL="514350" indent="-514350">
              <a:buAutoNum type="arabicPeriod"/>
            </a:pPr>
            <a:r>
              <a:rPr kumimoji="1" lang="en-US" altLang="ja-JP" b="1" dirty="0"/>
              <a:t>Transform into TXT file</a:t>
            </a:r>
            <a:r>
              <a:rPr kumimoji="1" lang="en-US" altLang="ja-JP" dirty="0"/>
              <a:t>, whatever the file types (1)(2) or (3) I just mentioned. – PDF and WORD have format, while TXT is pure.</a:t>
            </a:r>
          </a:p>
          <a:p>
            <a:pPr marL="514350" indent="-514350">
              <a:buAutoNum type="arabicPeriod"/>
            </a:pPr>
            <a:r>
              <a:rPr lang="en-US" altLang="ja-JP" b="1" dirty="0"/>
              <a:t>Text denoise with Python</a:t>
            </a:r>
            <a:r>
              <a:rPr lang="en-US" altLang="ja-JP" dirty="0"/>
              <a:t>, delete those nonsense words.</a:t>
            </a:r>
            <a:endParaRPr kumimoji="1" lang="ja-JP" altLang="en-US" dirty="0"/>
          </a:p>
        </p:txBody>
      </p:sp>
    </p:spTree>
    <p:extLst>
      <p:ext uri="{BB962C8B-B14F-4D97-AF65-F5344CB8AC3E}">
        <p14:creationId xmlns:p14="http://schemas.microsoft.com/office/powerpoint/2010/main" val="37299508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FC1C1C-E06D-5A2C-1319-D1EB7E56E72B}"/>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70F3C04-DC6A-AD44-C3B9-2700CF3612A3}"/>
              </a:ext>
            </a:extLst>
          </p:cNvPr>
          <p:cNvSpPr>
            <a:spLocks noGrp="1"/>
          </p:cNvSpPr>
          <p:nvPr>
            <p:ph type="title"/>
          </p:nvPr>
        </p:nvSpPr>
        <p:spPr/>
        <p:txBody>
          <a:bodyPr/>
          <a:lstStyle/>
          <a:p>
            <a:r>
              <a:rPr kumimoji="1" lang="en-US" altLang="ja-JP" dirty="0"/>
              <a:t>1.4 The Problem Conclusion </a:t>
            </a:r>
            <a:br>
              <a:rPr kumimoji="1" lang="en-US" altLang="ja-JP" dirty="0"/>
            </a:br>
            <a:r>
              <a:rPr kumimoji="1" lang="en-US" altLang="ja-JP" dirty="0"/>
              <a:t>	– What should I do?</a:t>
            </a:r>
            <a:endParaRPr kumimoji="1" lang="ja-JP" altLang="en-US" dirty="0"/>
          </a:p>
        </p:txBody>
      </p:sp>
      <p:sp>
        <p:nvSpPr>
          <p:cNvPr id="3" name="内容占位符 2">
            <a:extLst>
              <a:ext uri="{FF2B5EF4-FFF2-40B4-BE49-F238E27FC236}">
                <a16:creationId xmlns:a16="http://schemas.microsoft.com/office/drawing/2014/main" id="{9FF235DD-3067-8668-3BDC-6B132483C4DF}"/>
              </a:ext>
            </a:extLst>
          </p:cNvPr>
          <p:cNvSpPr>
            <a:spLocks noGrp="1"/>
          </p:cNvSpPr>
          <p:nvPr>
            <p:ph idx="1"/>
          </p:nvPr>
        </p:nvSpPr>
        <p:spPr>
          <a:xfrm>
            <a:off x="838200" y="1825625"/>
            <a:ext cx="10937488" cy="4738726"/>
          </a:xfrm>
        </p:spPr>
        <p:txBody>
          <a:bodyPr>
            <a:normAutofit lnSpcReduction="10000"/>
          </a:bodyPr>
          <a:lstStyle/>
          <a:p>
            <a:r>
              <a:rPr lang="en-US" altLang="ja-JP" dirty="0"/>
              <a:t>(1)	Printed text with a text layer – Transform into txt file and denoise with Python</a:t>
            </a:r>
          </a:p>
          <a:p>
            <a:r>
              <a:rPr lang="en-US" altLang="ja-JP" dirty="0"/>
              <a:t>(2)	Printed text without a text layer – OCR into txt and denoise</a:t>
            </a:r>
            <a:endParaRPr lang="en-US" altLang="ja-JP" dirty="0">
              <a:solidFill>
                <a:srgbClr val="FF0000"/>
              </a:solidFill>
            </a:endParaRPr>
          </a:p>
          <a:p>
            <a:r>
              <a:rPr lang="en-US" altLang="ja-JP" dirty="0"/>
              <a:t>(3)	Handwritten text or mixed text without a text layer – AI OCR into txt and denoise</a:t>
            </a:r>
          </a:p>
          <a:p>
            <a:endParaRPr lang="en-US" altLang="ja-JP" dirty="0">
              <a:solidFill>
                <a:srgbClr val="FF0000"/>
              </a:solidFill>
            </a:endParaRPr>
          </a:p>
          <a:p>
            <a:r>
              <a:rPr lang="en-US" altLang="ja-JP" dirty="0">
                <a:solidFill>
                  <a:srgbClr val="FF0000"/>
                </a:solidFill>
              </a:rPr>
              <a:t>In conclusion, Three Steps:</a:t>
            </a:r>
          </a:p>
          <a:p>
            <a:pPr marL="514350" indent="-514350">
              <a:buAutoNum type="arabicPeriod"/>
            </a:pPr>
            <a:r>
              <a:rPr lang="en-US" altLang="ja-JP" dirty="0">
                <a:solidFill>
                  <a:srgbClr val="FF0000"/>
                </a:solidFill>
              </a:rPr>
              <a:t>OCR: (2) &amp; (3) with different OCR tools and output TXT;</a:t>
            </a:r>
          </a:p>
          <a:p>
            <a:pPr marL="514350" indent="-514350">
              <a:buAutoNum type="arabicPeriod"/>
            </a:pPr>
            <a:r>
              <a:rPr lang="en-US" altLang="ja-JP" dirty="0">
                <a:solidFill>
                  <a:srgbClr val="FF0000"/>
                </a:solidFill>
              </a:rPr>
              <a:t>Transform (1) into TXT with Python only;</a:t>
            </a:r>
          </a:p>
          <a:p>
            <a:pPr marL="514350" indent="-514350">
              <a:buAutoNum type="arabicPeriod"/>
            </a:pPr>
            <a:r>
              <a:rPr lang="en-US" altLang="ja-JP" dirty="0">
                <a:solidFill>
                  <a:srgbClr val="FF0000"/>
                </a:solidFill>
              </a:rPr>
              <a:t>Denoise (1) (2) (3) with Python only.</a:t>
            </a:r>
          </a:p>
          <a:p>
            <a:endParaRPr kumimoji="1" lang="ja-JP" altLang="en-US" dirty="0"/>
          </a:p>
        </p:txBody>
      </p:sp>
    </p:spTree>
    <p:extLst>
      <p:ext uri="{BB962C8B-B14F-4D97-AF65-F5344CB8AC3E}">
        <p14:creationId xmlns:p14="http://schemas.microsoft.com/office/powerpoint/2010/main" val="19046160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10E162-178D-9992-5E9B-7F6C3E0C1A7D}"/>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707A2DFD-A8A9-775F-8AEA-AF866594CF0B}"/>
              </a:ext>
            </a:extLst>
          </p:cNvPr>
          <p:cNvSpPr>
            <a:spLocks noGrp="1"/>
          </p:cNvSpPr>
          <p:nvPr>
            <p:ph type="ctrTitle"/>
          </p:nvPr>
        </p:nvSpPr>
        <p:spPr>
          <a:xfrm>
            <a:off x="1524000" y="2863482"/>
            <a:ext cx="9144000" cy="1131036"/>
          </a:xfrm>
        </p:spPr>
        <p:txBody>
          <a:bodyPr/>
          <a:lstStyle/>
          <a:p>
            <a:pPr algn="l"/>
            <a:r>
              <a:rPr kumimoji="1" lang="en-US" altLang="ja-JP" dirty="0"/>
              <a:t>2. OCR Methods</a:t>
            </a:r>
            <a:endParaRPr kumimoji="1" lang="ja-JP" altLang="en-US" dirty="0"/>
          </a:p>
        </p:txBody>
      </p:sp>
    </p:spTree>
    <p:extLst>
      <p:ext uri="{BB962C8B-B14F-4D97-AF65-F5344CB8AC3E}">
        <p14:creationId xmlns:p14="http://schemas.microsoft.com/office/powerpoint/2010/main" val="29354887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C6743D-72F8-3CDF-4755-CB96C65A4E11}"/>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71D8A3BB-26D9-D3A9-4323-111D3C23A5F2}"/>
              </a:ext>
            </a:extLst>
          </p:cNvPr>
          <p:cNvSpPr>
            <a:spLocks noGrp="1"/>
          </p:cNvSpPr>
          <p:nvPr>
            <p:ph type="title"/>
          </p:nvPr>
        </p:nvSpPr>
        <p:spPr/>
        <p:txBody>
          <a:bodyPr/>
          <a:lstStyle/>
          <a:p>
            <a:r>
              <a:rPr kumimoji="1" lang="en-US" altLang="ja-JP" dirty="0"/>
              <a:t>2.1 AI OCR</a:t>
            </a:r>
            <a:endParaRPr kumimoji="1" lang="ja-JP" altLang="en-US" dirty="0"/>
          </a:p>
        </p:txBody>
      </p:sp>
      <p:sp>
        <p:nvSpPr>
          <p:cNvPr id="3" name="内容占位符 2">
            <a:extLst>
              <a:ext uri="{FF2B5EF4-FFF2-40B4-BE49-F238E27FC236}">
                <a16:creationId xmlns:a16="http://schemas.microsoft.com/office/drawing/2014/main" id="{E4B65559-DA15-3A5C-B5E5-CF02E979C3F1}"/>
              </a:ext>
            </a:extLst>
          </p:cNvPr>
          <p:cNvSpPr>
            <a:spLocks noGrp="1"/>
          </p:cNvSpPr>
          <p:nvPr>
            <p:ph idx="1"/>
          </p:nvPr>
        </p:nvSpPr>
        <p:spPr>
          <a:xfrm>
            <a:off x="838200" y="1825625"/>
            <a:ext cx="10937488" cy="4738726"/>
          </a:xfrm>
        </p:spPr>
        <p:txBody>
          <a:bodyPr>
            <a:normAutofit/>
          </a:bodyPr>
          <a:lstStyle/>
          <a:p>
            <a:r>
              <a:rPr kumimoji="1" lang="en-US" altLang="ja-JP" dirty="0"/>
              <a:t>Traditional OCR tool</a:t>
            </a:r>
            <a:r>
              <a:rPr lang="en-US" altLang="ja-JP" dirty="0"/>
              <a:t>s cannot recognize (scribbled) handwriting. Its work is based on pixel and “checking the dictionary”.</a:t>
            </a:r>
          </a:p>
          <a:p>
            <a:r>
              <a:rPr kumimoji="1" lang="en-US" altLang="ja-JP" dirty="0"/>
              <a:t>However, AI can competent this job. </a:t>
            </a:r>
          </a:p>
          <a:p>
            <a:r>
              <a:rPr kumimoji="1" lang="en-US" altLang="ja-JP" dirty="0"/>
              <a:t>Why</a:t>
            </a:r>
            <a:r>
              <a:rPr lang="en-US" altLang="ja-JP" dirty="0"/>
              <a:t>? HW images </a:t>
            </a:r>
            <a:r>
              <a:rPr lang="en-US" altLang="ja-JP" dirty="0" err="1"/>
              <a:t>traning</a:t>
            </a:r>
            <a:r>
              <a:rPr lang="en-US" altLang="ja-JP" dirty="0"/>
              <a:t>, Extract essential features; And most important: Understanding the context.</a:t>
            </a:r>
          </a:p>
          <a:p>
            <a:endParaRPr kumimoji="1" lang="ja-JP" altLang="en-US" dirty="0"/>
          </a:p>
        </p:txBody>
      </p:sp>
      <p:pic>
        <p:nvPicPr>
          <p:cNvPr id="5" name="图片 4">
            <a:extLst>
              <a:ext uri="{FF2B5EF4-FFF2-40B4-BE49-F238E27FC236}">
                <a16:creationId xmlns:a16="http://schemas.microsoft.com/office/drawing/2014/main" id="{6A6F1546-FC2D-8222-1164-3389BC4B0C42}"/>
              </a:ext>
            </a:extLst>
          </p:cNvPr>
          <p:cNvPicPr>
            <a:picLocks noChangeAspect="1"/>
          </p:cNvPicPr>
          <p:nvPr/>
        </p:nvPicPr>
        <p:blipFill>
          <a:blip r:embed="rId2"/>
          <a:stretch>
            <a:fillRect/>
          </a:stretch>
        </p:blipFill>
        <p:spPr>
          <a:xfrm>
            <a:off x="7163809" y="92927"/>
            <a:ext cx="4735442" cy="6672146"/>
          </a:xfrm>
          <a:prstGeom prst="rect">
            <a:avLst/>
          </a:prstGeom>
        </p:spPr>
      </p:pic>
      <p:pic>
        <p:nvPicPr>
          <p:cNvPr id="9" name="图片 8">
            <a:extLst>
              <a:ext uri="{FF2B5EF4-FFF2-40B4-BE49-F238E27FC236}">
                <a16:creationId xmlns:a16="http://schemas.microsoft.com/office/drawing/2014/main" id="{09D00515-5253-BA29-DF7B-EC0EF7913FC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62578" y="92927"/>
            <a:ext cx="6103041" cy="1766108"/>
          </a:xfrm>
          <a:prstGeom prst="rect">
            <a:avLst/>
          </a:prstGeom>
        </p:spPr>
      </p:pic>
      <p:pic>
        <p:nvPicPr>
          <p:cNvPr id="11" name="图片 10">
            <a:extLst>
              <a:ext uri="{FF2B5EF4-FFF2-40B4-BE49-F238E27FC236}">
                <a16:creationId xmlns:a16="http://schemas.microsoft.com/office/drawing/2014/main" id="{00D5778A-2B20-D040-FADC-306F910DB560}"/>
              </a:ext>
            </a:extLst>
          </p:cNvPr>
          <p:cNvPicPr>
            <a:picLocks noChangeAspect="1"/>
          </p:cNvPicPr>
          <p:nvPr/>
        </p:nvPicPr>
        <p:blipFill>
          <a:blip r:embed="rId4"/>
          <a:stretch>
            <a:fillRect/>
          </a:stretch>
        </p:blipFill>
        <p:spPr>
          <a:xfrm>
            <a:off x="1813932" y="1228918"/>
            <a:ext cx="5409274" cy="5582620"/>
          </a:xfrm>
          <a:prstGeom prst="rect">
            <a:avLst/>
          </a:prstGeom>
        </p:spPr>
      </p:pic>
    </p:spTree>
    <p:extLst>
      <p:ext uri="{BB962C8B-B14F-4D97-AF65-F5344CB8AC3E}">
        <p14:creationId xmlns:p14="http://schemas.microsoft.com/office/powerpoint/2010/main" val="9713909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56B17F8-F3AF-650C-4D00-A21C44853630}"/>
              </a:ext>
            </a:extLst>
          </p:cNvPr>
          <p:cNvSpPr>
            <a:spLocks noGrp="1"/>
          </p:cNvSpPr>
          <p:nvPr>
            <p:ph type="title"/>
          </p:nvPr>
        </p:nvSpPr>
        <p:spPr/>
        <p:txBody>
          <a:bodyPr/>
          <a:lstStyle/>
          <a:p>
            <a:r>
              <a:rPr kumimoji="1" lang="en-US" altLang="ja-JP" dirty="0"/>
              <a:t>2.2 Python Supported AI OCR (File Type 3)</a:t>
            </a:r>
            <a:endParaRPr kumimoji="1" lang="ja-JP" altLang="en-US" dirty="0"/>
          </a:p>
        </p:txBody>
      </p:sp>
      <p:sp>
        <p:nvSpPr>
          <p:cNvPr id="3" name="内容占位符 2">
            <a:extLst>
              <a:ext uri="{FF2B5EF4-FFF2-40B4-BE49-F238E27FC236}">
                <a16:creationId xmlns:a16="http://schemas.microsoft.com/office/drawing/2014/main" id="{E87D29EC-2A05-CC8F-B241-7F0E427A9A8B}"/>
              </a:ext>
            </a:extLst>
          </p:cNvPr>
          <p:cNvSpPr>
            <a:spLocks noGrp="1"/>
          </p:cNvSpPr>
          <p:nvPr>
            <p:ph idx="1"/>
          </p:nvPr>
        </p:nvSpPr>
        <p:spPr/>
        <p:txBody>
          <a:bodyPr>
            <a:normAutofit fontScale="92500" lnSpcReduction="10000"/>
          </a:bodyPr>
          <a:lstStyle/>
          <a:p>
            <a:r>
              <a:rPr kumimoji="1" lang="en-US" altLang="ja-JP" dirty="0"/>
              <a:t>Direct AI OCR has a trouble: You cannot make screen print for thousands of times and upload to AI one by one.</a:t>
            </a:r>
          </a:p>
          <a:p>
            <a:r>
              <a:rPr lang="en-US" altLang="ja-JP" dirty="0"/>
              <a:t>But Python is naturally suited for repetitive work.</a:t>
            </a:r>
          </a:p>
          <a:p>
            <a:r>
              <a:rPr lang="en-US" altLang="ja-JP" b="1" dirty="0"/>
              <a:t>The approach:</a:t>
            </a:r>
          </a:p>
          <a:p>
            <a:pPr marL="0" indent="0">
              <a:buNone/>
            </a:pPr>
            <a:r>
              <a:rPr lang="en-US" altLang="ja-JP" dirty="0"/>
              <a:t>  Write a Python program which can automatically call Gemini to do this OCR job for thousands loops (until the last page).</a:t>
            </a:r>
          </a:p>
          <a:p>
            <a:pPr marL="0" indent="0">
              <a:buNone/>
            </a:pPr>
            <a:r>
              <a:rPr lang="en-US" altLang="ja-JP" dirty="0"/>
              <a:t>How to call Gemini in Python? API!</a:t>
            </a:r>
          </a:p>
          <a:p>
            <a:pPr marL="0" indent="0">
              <a:buNone/>
            </a:pPr>
            <a:r>
              <a:rPr lang="en-US" altLang="ja-JP" dirty="0"/>
              <a:t>Application Programming Interface:</a:t>
            </a:r>
          </a:p>
          <a:p>
            <a:pPr marL="0" indent="0">
              <a:buNone/>
            </a:pPr>
            <a:r>
              <a:rPr lang="ja-JP" altLang="en-US" dirty="0"/>
              <a:t>ソフトウェアアプリケーション間の相互通信、データ交換、および機能統合を行うための、あらかじめ定義された一連の規則とプロトコル</a:t>
            </a:r>
            <a:endParaRPr lang="en-US" altLang="ja-JP" dirty="0"/>
          </a:p>
          <a:p>
            <a:endParaRPr lang="en-US" altLang="ja-JP" dirty="0"/>
          </a:p>
        </p:txBody>
      </p:sp>
    </p:spTree>
    <p:extLst>
      <p:ext uri="{BB962C8B-B14F-4D97-AF65-F5344CB8AC3E}">
        <p14:creationId xmlns:p14="http://schemas.microsoft.com/office/powerpoint/2010/main" val="15841849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8D54F1-96CF-710F-4F00-869D91ABFE3D}"/>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2C568803-1B9A-F29E-834E-B8EB9EAC02AE}"/>
              </a:ext>
            </a:extLst>
          </p:cNvPr>
          <p:cNvSpPr>
            <a:spLocks noGrp="1"/>
          </p:cNvSpPr>
          <p:nvPr>
            <p:ph type="title"/>
          </p:nvPr>
        </p:nvSpPr>
        <p:spPr/>
        <p:txBody>
          <a:bodyPr/>
          <a:lstStyle/>
          <a:p>
            <a:r>
              <a:rPr kumimoji="1" lang="en-US" altLang="ja-JP" dirty="0"/>
              <a:t>2.2 Python Supported AI OCR: Preparation</a:t>
            </a:r>
            <a:endParaRPr kumimoji="1" lang="ja-JP" altLang="en-US" dirty="0"/>
          </a:p>
        </p:txBody>
      </p:sp>
      <p:sp>
        <p:nvSpPr>
          <p:cNvPr id="3" name="内容占位符 2">
            <a:extLst>
              <a:ext uri="{FF2B5EF4-FFF2-40B4-BE49-F238E27FC236}">
                <a16:creationId xmlns:a16="http://schemas.microsoft.com/office/drawing/2014/main" id="{D9E0CE38-DB9D-59EB-36C0-57C45E6B636D}"/>
              </a:ext>
            </a:extLst>
          </p:cNvPr>
          <p:cNvSpPr>
            <a:spLocks noGrp="1"/>
          </p:cNvSpPr>
          <p:nvPr>
            <p:ph idx="1"/>
          </p:nvPr>
        </p:nvSpPr>
        <p:spPr/>
        <p:txBody>
          <a:bodyPr>
            <a:normAutofit fontScale="85000" lnSpcReduction="20000"/>
          </a:bodyPr>
          <a:lstStyle/>
          <a:p>
            <a:r>
              <a:rPr kumimoji="1" lang="en-US" altLang="ja-JP" dirty="0"/>
              <a:t>Preparations </a:t>
            </a:r>
          </a:p>
          <a:p>
            <a:pPr marL="0" indent="0">
              <a:buNone/>
            </a:pPr>
            <a:r>
              <a:rPr kumimoji="1" lang="en-US" altLang="ja-JP" dirty="0"/>
              <a:t>(All powered by Google, no download required.)</a:t>
            </a:r>
          </a:p>
          <a:p>
            <a:pPr marL="514350" indent="-514350">
              <a:buAutoNum type="arabicPeriod"/>
            </a:pPr>
            <a:r>
              <a:rPr lang="en-US" altLang="ja-JP" dirty="0"/>
              <a:t>Sign in </a:t>
            </a:r>
            <a:r>
              <a:rPr lang="en-US" altLang="ja-JP" b="1" dirty="0"/>
              <a:t>Google Cloud Console</a:t>
            </a:r>
            <a:r>
              <a:rPr lang="en-US" altLang="ja-JP" dirty="0"/>
              <a:t> and create </a:t>
            </a:r>
            <a:r>
              <a:rPr lang="en-US" altLang="ja-JP" b="1" dirty="0"/>
              <a:t>a new project</a:t>
            </a:r>
            <a:r>
              <a:rPr lang="en-US" altLang="ja-JP" dirty="0"/>
              <a:t>.</a:t>
            </a:r>
          </a:p>
          <a:p>
            <a:pPr marL="514350" indent="-514350">
              <a:buAutoNum type="arabicPeriod"/>
            </a:pPr>
            <a:r>
              <a:rPr kumimoji="1" lang="en-US" altLang="ja-JP" b="1" dirty="0"/>
              <a:t>Activate your full account </a:t>
            </a:r>
            <a:r>
              <a:rPr kumimoji="1" lang="en-US" altLang="ja-JP" dirty="0"/>
              <a:t>in Cloud (upload a credit card, and you will get 300 USD gift card for multi uses other than Gemini.)</a:t>
            </a:r>
          </a:p>
          <a:p>
            <a:pPr marL="514350" indent="-514350">
              <a:buAutoNum type="arabicPeriod"/>
            </a:pPr>
            <a:r>
              <a:rPr kumimoji="1" lang="en-US" altLang="ja-JP" dirty="0"/>
              <a:t>In </a:t>
            </a:r>
            <a:r>
              <a:rPr kumimoji="1" lang="en-US" altLang="ja-JP" b="1" dirty="0"/>
              <a:t>Google AI Studio</a:t>
            </a:r>
            <a:r>
              <a:rPr kumimoji="1" lang="en-US" altLang="ja-JP" dirty="0"/>
              <a:t>, </a:t>
            </a:r>
            <a:r>
              <a:rPr kumimoji="1" lang="en-US" altLang="ja-JP" b="1" dirty="0"/>
              <a:t>Create</a:t>
            </a:r>
            <a:r>
              <a:rPr kumimoji="1" lang="en-US" altLang="ja-JP" dirty="0"/>
              <a:t> your own </a:t>
            </a:r>
            <a:r>
              <a:rPr kumimoji="1" lang="en-US" altLang="ja-JP" b="1" dirty="0"/>
              <a:t>API key </a:t>
            </a:r>
            <a:r>
              <a:rPr kumimoji="1" lang="en-US" altLang="ja-JP" dirty="0"/>
              <a:t>and activate its “Gemini API” and “Cloud Vision API” function. </a:t>
            </a:r>
            <a:r>
              <a:rPr kumimoji="1" lang="en-US" altLang="ja-JP" u="sng" dirty="0"/>
              <a:t>Keep Your API Key Secret.</a:t>
            </a:r>
          </a:p>
          <a:p>
            <a:pPr marL="514350" indent="-514350">
              <a:buAutoNum type="arabicPeriod"/>
            </a:pPr>
            <a:r>
              <a:rPr kumimoji="1" lang="en-US" altLang="ja-JP" dirty="0"/>
              <a:t>Upload your target files into </a:t>
            </a:r>
            <a:r>
              <a:rPr kumimoji="1" lang="en-US" altLang="ja-JP" b="1" dirty="0"/>
              <a:t>Google Drive</a:t>
            </a:r>
            <a:r>
              <a:rPr kumimoji="1" lang="en-US" altLang="ja-JP" dirty="0"/>
              <a:t>.</a:t>
            </a:r>
          </a:p>
          <a:p>
            <a:pPr marL="514350" indent="-514350">
              <a:buAutoNum type="arabicPeriod"/>
            </a:pPr>
            <a:r>
              <a:rPr lang="en-US" altLang="ja-JP" dirty="0"/>
              <a:t>Ask Claude and get the </a:t>
            </a:r>
            <a:r>
              <a:rPr lang="en-US" altLang="ja-JP" b="1" dirty="0"/>
              <a:t>Python program code</a:t>
            </a:r>
            <a:r>
              <a:rPr lang="en-US" altLang="ja-JP" dirty="0"/>
              <a:t>, paste it into </a:t>
            </a:r>
            <a:r>
              <a:rPr lang="en-US" altLang="ja-JP" b="1" dirty="0"/>
              <a:t>Google </a:t>
            </a:r>
            <a:r>
              <a:rPr lang="en-US" altLang="ja-JP" b="1" dirty="0" err="1"/>
              <a:t>Colab</a:t>
            </a:r>
            <a:r>
              <a:rPr lang="en-US" altLang="ja-JP" b="1" dirty="0"/>
              <a:t> </a:t>
            </a:r>
            <a:r>
              <a:rPr lang="en-US" altLang="ja-JP" dirty="0"/>
              <a:t>(an online and AI supported development platform, no domestic Python needed) and </a:t>
            </a:r>
            <a:r>
              <a:rPr lang="en-US" altLang="ja-JP" b="1" dirty="0"/>
              <a:t>run it</a:t>
            </a:r>
            <a:r>
              <a:rPr lang="en-US" altLang="ja-JP" dirty="0"/>
              <a:t>. The output file will appear in Drive.</a:t>
            </a:r>
            <a:endParaRPr kumimoji="1" lang="ja-JP" altLang="en-US" dirty="0"/>
          </a:p>
        </p:txBody>
      </p:sp>
    </p:spTree>
    <p:extLst>
      <p:ext uri="{BB962C8B-B14F-4D97-AF65-F5344CB8AC3E}">
        <p14:creationId xmlns:p14="http://schemas.microsoft.com/office/powerpoint/2010/main" val="35457575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6BE815-CD24-503E-C2CC-A75E8774C7E9}"/>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AE1A07F-1015-93F4-F95A-6C42674EE2D2}"/>
              </a:ext>
            </a:extLst>
          </p:cNvPr>
          <p:cNvSpPr>
            <a:spLocks noGrp="1"/>
          </p:cNvSpPr>
          <p:nvPr>
            <p:ph type="title"/>
          </p:nvPr>
        </p:nvSpPr>
        <p:spPr/>
        <p:txBody>
          <a:bodyPr/>
          <a:lstStyle/>
          <a:p>
            <a:r>
              <a:rPr kumimoji="1" lang="en-US" altLang="ja-JP" dirty="0"/>
              <a:t>2.2 Python Supported AI OCR: Result</a:t>
            </a:r>
            <a:endParaRPr kumimoji="1" lang="ja-JP" altLang="en-US" dirty="0"/>
          </a:p>
        </p:txBody>
      </p:sp>
      <p:pic>
        <p:nvPicPr>
          <p:cNvPr id="6" name="图片 5">
            <a:extLst>
              <a:ext uri="{FF2B5EF4-FFF2-40B4-BE49-F238E27FC236}">
                <a16:creationId xmlns:a16="http://schemas.microsoft.com/office/drawing/2014/main" id="{38959C4F-298F-6EF6-BF78-CC08339DFC8E}"/>
              </a:ext>
            </a:extLst>
          </p:cNvPr>
          <p:cNvPicPr>
            <a:picLocks noChangeAspect="1"/>
          </p:cNvPicPr>
          <p:nvPr/>
        </p:nvPicPr>
        <p:blipFill>
          <a:blip r:embed="rId2"/>
          <a:stretch>
            <a:fillRect/>
          </a:stretch>
        </p:blipFill>
        <p:spPr>
          <a:xfrm>
            <a:off x="7389787" y="1272783"/>
            <a:ext cx="3964013" cy="5585217"/>
          </a:xfrm>
          <a:prstGeom prst="rect">
            <a:avLst/>
          </a:prstGeom>
        </p:spPr>
      </p:pic>
      <p:pic>
        <p:nvPicPr>
          <p:cNvPr id="8" name="图片 7">
            <a:extLst>
              <a:ext uri="{FF2B5EF4-FFF2-40B4-BE49-F238E27FC236}">
                <a16:creationId xmlns:a16="http://schemas.microsoft.com/office/drawing/2014/main" id="{5599D567-8AEE-7AAC-ADEA-544A33E8112F}"/>
              </a:ext>
            </a:extLst>
          </p:cNvPr>
          <p:cNvPicPr>
            <a:picLocks noChangeAspect="1"/>
          </p:cNvPicPr>
          <p:nvPr/>
        </p:nvPicPr>
        <p:blipFill>
          <a:blip r:embed="rId3"/>
          <a:stretch>
            <a:fillRect/>
          </a:stretch>
        </p:blipFill>
        <p:spPr>
          <a:xfrm>
            <a:off x="471107" y="1690688"/>
            <a:ext cx="6758591" cy="4351338"/>
          </a:xfrm>
          <a:prstGeom prst="rect">
            <a:avLst/>
          </a:prstGeom>
        </p:spPr>
      </p:pic>
    </p:spTree>
    <p:extLst>
      <p:ext uri="{BB962C8B-B14F-4D97-AF65-F5344CB8AC3E}">
        <p14:creationId xmlns:p14="http://schemas.microsoft.com/office/powerpoint/2010/main" val="38211747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42D200-F885-7425-78EE-FBAA8CA9BC39}"/>
            </a:ext>
          </a:extLst>
        </p:cNvPr>
        <p:cNvGrpSpPr/>
        <p:nvPr/>
      </p:nvGrpSpPr>
      <p:grpSpPr>
        <a:xfrm>
          <a:off x="0" y="0"/>
          <a:ext cx="0" cy="0"/>
          <a:chOff x="0" y="0"/>
          <a:chExt cx="0" cy="0"/>
        </a:xfrm>
      </p:grpSpPr>
      <p:sp>
        <p:nvSpPr>
          <p:cNvPr id="3" name="内容占位符 2">
            <a:extLst>
              <a:ext uri="{FF2B5EF4-FFF2-40B4-BE49-F238E27FC236}">
                <a16:creationId xmlns:a16="http://schemas.microsoft.com/office/drawing/2014/main" id="{C9FECB58-0055-1F15-F4D8-D411D30D04A8}"/>
              </a:ext>
            </a:extLst>
          </p:cNvPr>
          <p:cNvSpPr>
            <a:spLocks noGrp="1"/>
          </p:cNvSpPr>
          <p:nvPr>
            <p:ph idx="1"/>
          </p:nvPr>
        </p:nvSpPr>
        <p:spPr>
          <a:xfrm>
            <a:off x="838200" y="643221"/>
            <a:ext cx="10515600" cy="6064468"/>
          </a:xfrm>
        </p:spPr>
        <p:txBody>
          <a:bodyPr>
            <a:noAutofit/>
          </a:bodyPr>
          <a:lstStyle/>
          <a:p>
            <a:pPr>
              <a:lnSpc>
                <a:spcPct val="100000"/>
              </a:lnSpc>
              <a:spcBef>
                <a:spcPts val="0"/>
              </a:spcBef>
            </a:pPr>
            <a:r>
              <a:rPr lang="en-US" altLang="ja-JP" sz="700" dirty="0"/>
              <a:t>!pip install -q google-</a:t>
            </a:r>
            <a:r>
              <a:rPr lang="en-US" altLang="ja-JP" sz="700" dirty="0" err="1"/>
              <a:t>genai</a:t>
            </a:r>
            <a:r>
              <a:rPr lang="en-US" altLang="ja-JP" sz="700" dirty="0"/>
              <a:t> </a:t>
            </a:r>
            <a:r>
              <a:rPr lang="en-US" altLang="ja-JP" sz="700" dirty="0" err="1"/>
              <a:t>pymupdf</a:t>
            </a:r>
            <a:r>
              <a:rPr lang="en-US" altLang="ja-JP" sz="700" dirty="0"/>
              <a:t> pillow</a:t>
            </a:r>
          </a:p>
          <a:p>
            <a:pPr>
              <a:lnSpc>
                <a:spcPct val="100000"/>
              </a:lnSpc>
              <a:spcBef>
                <a:spcPts val="0"/>
              </a:spcBef>
            </a:pPr>
            <a:r>
              <a:rPr lang="en-US" altLang="ja-JP" sz="700" dirty="0">
                <a:solidFill>
                  <a:srgbClr val="0070C0"/>
                </a:solidFill>
              </a:rPr>
              <a:t>from </a:t>
            </a:r>
            <a:r>
              <a:rPr lang="en-US" altLang="ja-JP" sz="700" dirty="0" err="1">
                <a:solidFill>
                  <a:srgbClr val="0070C0"/>
                </a:solidFill>
              </a:rPr>
              <a:t>google.colab</a:t>
            </a:r>
            <a:r>
              <a:rPr lang="en-US" altLang="ja-JP" sz="700" dirty="0">
                <a:solidFill>
                  <a:srgbClr val="0070C0"/>
                </a:solidFill>
              </a:rPr>
              <a:t> import drive</a:t>
            </a:r>
          </a:p>
          <a:p>
            <a:pPr>
              <a:lnSpc>
                <a:spcPct val="100000"/>
              </a:lnSpc>
              <a:spcBef>
                <a:spcPts val="0"/>
              </a:spcBef>
            </a:pPr>
            <a:r>
              <a:rPr lang="en-US" altLang="ja-JP" sz="700" dirty="0" err="1">
                <a:solidFill>
                  <a:srgbClr val="0070C0"/>
                </a:solidFill>
              </a:rPr>
              <a:t>drive.mount</a:t>
            </a:r>
            <a:r>
              <a:rPr lang="en-US" altLang="ja-JP" sz="700" dirty="0">
                <a:solidFill>
                  <a:srgbClr val="0070C0"/>
                </a:solidFill>
              </a:rPr>
              <a:t>('/content/drive')</a:t>
            </a:r>
          </a:p>
          <a:p>
            <a:pPr>
              <a:lnSpc>
                <a:spcPct val="100000"/>
              </a:lnSpc>
              <a:spcBef>
                <a:spcPts val="0"/>
              </a:spcBef>
            </a:pPr>
            <a:r>
              <a:rPr lang="en-US" altLang="ja-JP" sz="700" dirty="0">
                <a:solidFill>
                  <a:srgbClr val="0070C0"/>
                </a:solidFill>
              </a:rPr>
              <a:t>from google import </a:t>
            </a:r>
            <a:r>
              <a:rPr lang="en-US" altLang="ja-JP" sz="700" dirty="0" err="1">
                <a:solidFill>
                  <a:srgbClr val="0070C0"/>
                </a:solidFill>
              </a:rPr>
              <a:t>genai</a:t>
            </a:r>
            <a:endParaRPr lang="en-US" altLang="ja-JP" sz="700" dirty="0">
              <a:solidFill>
                <a:srgbClr val="0070C0"/>
              </a:solidFill>
            </a:endParaRPr>
          </a:p>
          <a:p>
            <a:pPr>
              <a:lnSpc>
                <a:spcPct val="100000"/>
              </a:lnSpc>
              <a:spcBef>
                <a:spcPts val="0"/>
              </a:spcBef>
            </a:pPr>
            <a:r>
              <a:rPr lang="en-US" altLang="ja-JP" sz="700" dirty="0">
                <a:solidFill>
                  <a:srgbClr val="0070C0"/>
                </a:solidFill>
              </a:rPr>
              <a:t>import </a:t>
            </a:r>
            <a:r>
              <a:rPr lang="en-US" altLang="ja-JP" sz="700" dirty="0" err="1">
                <a:solidFill>
                  <a:srgbClr val="0070C0"/>
                </a:solidFill>
              </a:rPr>
              <a:t>fitz</a:t>
            </a:r>
            <a:endParaRPr lang="en-US" altLang="ja-JP" sz="700" dirty="0">
              <a:solidFill>
                <a:srgbClr val="0070C0"/>
              </a:solidFill>
            </a:endParaRPr>
          </a:p>
          <a:p>
            <a:pPr>
              <a:lnSpc>
                <a:spcPct val="100000"/>
              </a:lnSpc>
              <a:spcBef>
                <a:spcPts val="0"/>
              </a:spcBef>
            </a:pPr>
            <a:r>
              <a:rPr lang="en-US" altLang="ja-JP" sz="700" dirty="0">
                <a:solidFill>
                  <a:srgbClr val="0070C0"/>
                </a:solidFill>
              </a:rPr>
              <a:t>from PIL import Image</a:t>
            </a:r>
          </a:p>
          <a:p>
            <a:pPr>
              <a:lnSpc>
                <a:spcPct val="100000"/>
              </a:lnSpc>
              <a:spcBef>
                <a:spcPts val="0"/>
              </a:spcBef>
            </a:pPr>
            <a:r>
              <a:rPr lang="en-US" altLang="ja-JP" sz="700" dirty="0">
                <a:solidFill>
                  <a:srgbClr val="0070C0"/>
                </a:solidFill>
              </a:rPr>
              <a:t>import io</a:t>
            </a:r>
          </a:p>
          <a:p>
            <a:pPr>
              <a:lnSpc>
                <a:spcPct val="100000"/>
              </a:lnSpc>
              <a:spcBef>
                <a:spcPts val="0"/>
              </a:spcBef>
            </a:pPr>
            <a:r>
              <a:rPr lang="en-US" altLang="ja-JP" sz="700" dirty="0">
                <a:solidFill>
                  <a:srgbClr val="0070C0"/>
                </a:solidFill>
              </a:rPr>
              <a:t>import time</a:t>
            </a:r>
          </a:p>
          <a:p>
            <a:pPr>
              <a:lnSpc>
                <a:spcPct val="100000"/>
              </a:lnSpc>
              <a:spcBef>
                <a:spcPts val="0"/>
              </a:spcBef>
            </a:pPr>
            <a:r>
              <a:rPr lang="en-US" altLang="ja-JP" sz="700" dirty="0">
                <a:solidFill>
                  <a:srgbClr val="0070C0"/>
                </a:solidFill>
              </a:rPr>
              <a:t>import </a:t>
            </a:r>
            <a:r>
              <a:rPr lang="en-US" altLang="ja-JP" sz="700" dirty="0" err="1">
                <a:solidFill>
                  <a:srgbClr val="0070C0"/>
                </a:solidFill>
              </a:rPr>
              <a:t>os</a:t>
            </a:r>
            <a:endParaRPr lang="en-US" altLang="ja-JP" sz="700" dirty="0">
              <a:solidFill>
                <a:srgbClr val="0070C0"/>
              </a:solidFill>
            </a:endParaRPr>
          </a:p>
          <a:p>
            <a:pPr>
              <a:lnSpc>
                <a:spcPct val="100000"/>
              </a:lnSpc>
              <a:spcBef>
                <a:spcPts val="0"/>
              </a:spcBef>
            </a:pPr>
            <a:r>
              <a:rPr lang="en-US" altLang="ja-JP" sz="700" dirty="0">
                <a:solidFill>
                  <a:srgbClr val="00B050"/>
                </a:solidFill>
              </a:rPr>
              <a:t># ===== </a:t>
            </a:r>
            <a:r>
              <a:rPr lang="ja-JP" altLang="en-US" sz="700" dirty="0">
                <a:solidFill>
                  <a:srgbClr val="00B050"/>
                </a:solidFill>
              </a:rPr>
              <a:t>只需修改这两行 </a:t>
            </a:r>
            <a:r>
              <a:rPr lang="en-US" altLang="ja-JP" sz="700" dirty="0">
                <a:solidFill>
                  <a:srgbClr val="00B050"/>
                </a:solidFill>
              </a:rPr>
              <a:t>=====</a:t>
            </a:r>
          </a:p>
          <a:p>
            <a:pPr>
              <a:lnSpc>
                <a:spcPct val="100000"/>
              </a:lnSpc>
              <a:spcBef>
                <a:spcPts val="0"/>
              </a:spcBef>
            </a:pPr>
            <a:r>
              <a:rPr lang="en-US" altLang="ja-JP" sz="700" dirty="0">
                <a:solidFill>
                  <a:srgbClr val="00B050"/>
                </a:solidFill>
              </a:rPr>
              <a:t>API_KEY = “</a:t>
            </a:r>
            <a:r>
              <a:rPr lang="en-US" altLang="ja-JP" sz="700" dirty="0" err="1">
                <a:solidFill>
                  <a:srgbClr val="00B050"/>
                </a:solidFill>
              </a:rPr>
              <a:t>Your_Own_API_Key</a:t>
            </a:r>
            <a:r>
              <a:rPr lang="en-US" altLang="ja-JP" sz="700" dirty="0">
                <a:solidFill>
                  <a:srgbClr val="00B050"/>
                </a:solidFill>
              </a:rPr>
              <a:t>"</a:t>
            </a:r>
          </a:p>
          <a:p>
            <a:pPr>
              <a:lnSpc>
                <a:spcPct val="100000"/>
              </a:lnSpc>
              <a:spcBef>
                <a:spcPts val="0"/>
              </a:spcBef>
            </a:pPr>
            <a:r>
              <a:rPr lang="en-US" altLang="ja-JP" sz="700" dirty="0">
                <a:solidFill>
                  <a:srgbClr val="00B050"/>
                </a:solidFill>
              </a:rPr>
              <a:t>PDF_PATH = “</a:t>
            </a:r>
            <a:r>
              <a:rPr lang="en-US" altLang="ja-JP" sz="700" dirty="0" err="1">
                <a:solidFill>
                  <a:srgbClr val="00B050"/>
                </a:solidFill>
              </a:rPr>
              <a:t>Your_PDF_Path</a:t>
            </a:r>
            <a:r>
              <a:rPr lang="en-US" altLang="ja-JP" sz="700" dirty="0">
                <a:solidFill>
                  <a:srgbClr val="00B050"/>
                </a:solidFill>
              </a:rPr>
              <a:t>"</a:t>
            </a:r>
          </a:p>
          <a:p>
            <a:pPr>
              <a:lnSpc>
                <a:spcPct val="100000"/>
              </a:lnSpc>
              <a:spcBef>
                <a:spcPts val="0"/>
              </a:spcBef>
            </a:pPr>
            <a:r>
              <a:rPr lang="en-US" altLang="ja-JP" sz="700" dirty="0">
                <a:solidFill>
                  <a:srgbClr val="00B050"/>
                </a:solidFill>
              </a:rPr>
              <a:t># ==========================</a:t>
            </a:r>
          </a:p>
          <a:p>
            <a:pPr>
              <a:lnSpc>
                <a:spcPct val="100000"/>
              </a:lnSpc>
              <a:spcBef>
                <a:spcPts val="0"/>
              </a:spcBef>
            </a:pPr>
            <a:r>
              <a:rPr lang="en-US" altLang="ja-JP" sz="700" dirty="0">
                <a:solidFill>
                  <a:srgbClr val="00B050"/>
                </a:solidFill>
              </a:rPr>
              <a:t>OUTPUT_PATH = "/content/drive/</a:t>
            </a:r>
            <a:r>
              <a:rPr lang="en-US" altLang="ja-JP" sz="700" dirty="0" err="1">
                <a:solidFill>
                  <a:srgbClr val="00B050"/>
                </a:solidFill>
              </a:rPr>
              <a:t>MyDrive</a:t>
            </a:r>
            <a:r>
              <a:rPr lang="en-US" altLang="ja-JP" sz="700" dirty="0">
                <a:solidFill>
                  <a:srgbClr val="00B050"/>
                </a:solidFill>
              </a:rPr>
              <a:t>/</a:t>
            </a:r>
            <a:r>
              <a:rPr lang="en-US" altLang="ja-JP" sz="700" dirty="0" err="1">
                <a:solidFill>
                  <a:srgbClr val="00B050"/>
                </a:solidFill>
              </a:rPr>
              <a:t>ocr</a:t>
            </a:r>
            <a:r>
              <a:rPr lang="en-US" altLang="ja-JP" sz="700" dirty="0">
                <a:solidFill>
                  <a:srgbClr val="00B050"/>
                </a:solidFill>
              </a:rPr>
              <a:t>_</a:t>
            </a:r>
            <a:r>
              <a:rPr lang="ja-JP" altLang="en-US" sz="700" dirty="0">
                <a:solidFill>
                  <a:srgbClr val="00B050"/>
                </a:solidFill>
              </a:rPr>
              <a:t>结果</a:t>
            </a:r>
            <a:r>
              <a:rPr lang="en-US" altLang="ja-JP" sz="700" dirty="0">
                <a:solidFill>
                  <a:srgbClr val="00B050"/>
                </a:solidFill>
              </a:rPr>
              <a:t>.txt"</a:t>
            </a:r>
          </a:p>
          <a:p>
            <a:pPr>
              <a:lnSpc>
                <a:spcPct val="100000"/>
              </a:lnSpc>
              <a:spcBef>
                <a:spcPts val="0"/>
              </a:spcBef>
            </a:pPr>
            <a:r>
              <a:rPr lang="en-US" altLang="ja-JP" sz="700" dirty="0">
                <a:solidFill>
                  <a:srgbClr val="7030A0"/>
                </a:solidFill>
              </a:rPr>
              <a:t># </a:t>
            </a:r>
            <a:r>
              <a:rPr lang="ja-JP" altLang="en-US" sz="700" dirty="0">
                <a:solidFill>
                  <a:srgbClr val="7030A0"/>
                </a:solidFill>
              </a:rPr>
              <a:t>确认文件存在</a:t>
            </a:r>
          </a:p>
          <a:p>
            <a:pPr>
              <a:lnSpc>
                <a:spcPct val="100000"/>
              </a:lnSpc>
              <a:spcBef>
                <a:spcPts val="0"/>
              </a:spcBef>
            </a:pPr>
            <a:r>
              <a:rPr lang="en-US" altLang="ja-JP" sz="700" dirty="0">
                <a:solidFill>
                  <a:srgbClr val="7030A0"/>
                </a:solidFill>
              </a:rPr>
              <a:t>print("</a:t>
            </a:r>
            <a:r>
              <a:rPr lang="ja-JP" altLang="en-US" sz="700" dirty="0">
                <a:solidFill>
                  <a:srgbClr val="7030A0"/>
                </a:solidFill>
              </a:rPr>
              <a:t>文件存在：</a:t>
            </a:r>
            <a:r>
              <a:rPr lang="en-US" altLang="ja-JP" sz="700" dirty="0">
                <a:solidFill>
                  <a:srgbClr val="7030A0"/>
                </a:solidFill>
              </a:rPr>
              <a:t>", </a:t>
            </a:r>
            <a:r>
              <a:rPr lang="en-US" altLang="ja-JP" sz="700" dirty="0" err="1">
                <a:solidFill>
                  <a:srgbClr val="7030A0"/>
                </a:solidFill>
              </a:rPr>
              <a:t>os.path.exists</a:t>
            </a:r>
            <a:r>
              <a:rPr lang="en-US" altLang="ja-JP" sz="700" dirty="0">
                <a:solidFill>
                  <a:srgbClr val="7030A0"/>
                </a:solidFill>
              </a:rPr>
              <a:t>(PDF_PATH))</a:t>
            </a:r>
          </a:p>
          <a:p>
            <a:pPr>
              <a:lnSpc>
                <a:spcPct val="100000"/>
              </a:lnSpc>
              <a:spcBef>
                <a:spcPts val="0"/>
              </a:spcBef>
            </a:pPr>
            <a:r>
              <a:rPr lang="en-US" altLang="ja-JP" sz="700" dirty="0">
                <a:solidFill>
                  <a:srgbClr val="7030A0"/>
                </a:solidFill>
              </a:rPr>
              <a:t>print("</a:t>
            </a:r>
            <a:r>
              <a:rPr lang="ja-JP" altLang="en-US" sz="700" dirty="0">
                <a:solidFill>
                  <a:srgbClr val="7030A0"/>
                </a:solidFill>
              </a:rPr>
              <a:t>文件大小：</a:t>
            </a:r>
            <a:r>
              <a:rPr lang="en-US" altLang="ja-JP" sz="700" dirty="0">
                <a:solidFill>
                  <a:srgbClr val="7030A0"/>
                </a:solidFill>
              </a:rPr>
              <a:t>", </a:t>
            </a:r>
            <a:r>
              <a:rPr lang="en-US" altLang="ja-JP" sz="700" dirty="0" err="1">
                <a:solidFill>
                  <a:srgbClr val="7030A0"/>
                </a:solidFill>
              </a:rPr>
              <a:t>os.path.getsize</a:t>
            </a:r>
            <a:r>
              <a:rPr lang="en-US" altLang="ja-JP" sz="700" dirty="0">
                <a:solidFill>
                  <a:srgbClr val="7030A0"/>
                </a:solidFill>
              </a:rPr>
              <a:t>(PDF_PATH), "</a:t>
            </a:r>
            <a:r>
              <a:rPr lang="ja-JP" altLang="en-US" sz="700" dirty="0">
                <a:solidFill>
                  <a:srgbClr val="7030A0"/>
                </a:solidFill>
              </a:rPr>
              <a:t>字节</a:t>
            </a:r>
            <a:r>
              <a:rPr lang="en-US" altLang="ja-JP" sz="700" dirty="0">
                <a:solidFill>
                  <a:srgbClr val="7030A0"/>
                </a:solidFill>
              </a:rPr>
              <a:t>")</a:t>
            </a:r>
          </a:p>
          <a:p>
            <a:pPr>
              <a:lnSpc>
                <a:spcPct val="100000"/>
              </a:lnSpc>
              <a:spcBef>
                <a:spcPts val="0"/>
              </a:spcBef>
            </a:pPr>
            <a:r>
              <a:rPr lang="en-US" altLang="ja-JP" sz="700" dirty="0">
                <a:solidFill>
                  <a:srgbClr val="7030A0"/>
                </a:solidFill>
              </a:rPr>
              <a:t>client = </a:t>
            </a:r>
            <a:r>
              <a:rPr lang="en-US" altLang="ja-JP" sz="700" dirty="0" err="1">
                <a:solidFill>
                  <a:srgbClr val="7030A0"/>
                </a:solidFill>
              </a:rPr>
              <a:t>genai.Client</a:t>
            </a:r>
            <a:r>
              <a:rPr lang="en-US" altLang="ja-JP" sz="700" dirty="0">
                <a:solidFill>
                  <a:srgbClr val="7030A0"/>
                </a:solidFill>
              </a:rPr>
              <a:t>(</a:t>
            </a:r>
            <a:r>
              <a:rPr lang="en-US" altLang="ja-JP" sz="700" dirty="0" err="1">
                <a:solidFill>
                  <a:srgbClr val="7030A0"/>
                </a:solidFill>
              </a:rPr>
              <a:t>api_key</a:t>
            </a:r>
            <a:r>
              <a:rPr lang="en-US" altLang="ja-JP" sz="700" dirty="0">
                <a:solidFill>
                  <a:srgbClr val="7030A0"/>
                </a:solidFill>
              </a:rPr>
              <a:t>=API_KEY)</a:t>
            </a:r>
          </a:p>
          <a:p>
            <a:pPr>
              <a:lnSpc>
                <a:spcPct val="100000"/>
              </a:lnSpc>
              <a:spcBef>
                <a:spcPts val="0"/>
              </a:spcBef>
            </a:pPr>
            <a:r>
              <a:rPr lang="en-US" altLang="ja-JP" sz="700" dirty="0">
                <a:solidFill>
                  <a:srgbClr val="7030A0"/>
                </a:solidFill>
              </a:rPr>
              <a:t>doc = </a:t>
            </a:r>
            <a:r>
              <a:rPr lang="en-US" altLang="ja-JP" sz="700" dirty="0" err="1">
                <a:solidFill>
                  <a:srgbClr val="7030A0"/>
                </a:solidFill>
              </a:rPr>
              <a:t>fitz.open</a:t>
            </a:r>
            <a:r>
              <a:rPr lang="en-US" altLang="ja-JP" sz="700" dirty="0">
                <a:solidFill>
                  <a:srgbClr val="7030A0"/>
                </a:solidFill>
              </a:rPr>
              <a:t>(PDF_PATH)</a:t>
            </a:r>
          </a:p>
          <a:p>
            <a:pPr>
              <a:lnSpc>
                <a:spcPct val="100000"/>
              </a:lnSpc>
              <a:spcBef>
                <a:spcPts val="0"/>
              </a:spcBef>
            </a:pPr>
            <a:r>
              <a:rPr lang="en-US" altLang="ja-JP" sz="700" dirty="0" err="1">
                <a:solidFill>
                  <a:srgbClr val="7030A0"/>
                </a:solidFill>
              </a:rPr>
              <a:t>total_pages</a:t>
            </a:r>
            <a:r>
              <a:rPr lang="en-US" altLang="ja-JP" sz="700" dirty="0">
                <a:solidFill>
                  <a:srgbClr val="7030A0"/>
                </a:solidFill>
              </a:rPr>
              <a:t> = </a:t>
            </a:r>
            <a:r>
              <a:rPr lang="en-US" altLang="ja-JP" sz="700" dirty="0" err="1">
                <a:solidFill>
                  <a:srgbClr val="7030A0"/>
                </a:solidFill>
              </a:rPr>
              <a:t>len</a:t>
            </a:r>
            <a:r>
              <a:rPr lang="en-US" altLang="ja-JP" sz="700" dirty="0">
                <a:solidFill>
                  <a:srgbClr val="7030A0"/>
                </a:solidFill>
              </a:rPr>
              <a:t>(doc)</a:t>
            </a:r>
          </a:p>
          <a:p>
            <a:pPr>
              <a:lnSpc>
                <a:spcPct val="100000"/>
              </a:lnSpc>
              <a:spcBef>
                <a:spcPts val="0"/>
              </a:spcBef>
            </a:pPr>
            <a:r>
              <a:rPr lang="en-US" altLang="ja-JP" sz="700" dirty="0">
                <a:solidFill>
                  <a:srgbClr val="7030A0"/>
                </a:solidFill>
              </a:rPr>
              <a:t>print(f"</a:t>
            </a:r>
            <a:r>
              <a:rPr lang="ja-JP" altLang="en-US" sz="700" dirty="0">
                <a:solidFill>
                  <a:srgbClr val="7030A0"/>
                </a:solidFill>
              </a:rPr>
              <a:t>共 </a:t>
            </a:r>
            <a:r>
              <a:rPr lang="en-US" altLang="ja-JP" sz="700" dirty="0">
                <a:solidFill>
                  <a:srgbClr val="7030A0"/>
                </a:solidFill>
              </a:rPr>
              <a:t>{</a:t>
            </a:r>
            <a:r>
              <a:rPr lang="en-US" altLang="ja-JP" sz="700" dirty="0" err="1">
                <a:solidFill>
                  <a:srgbClr val="7030A0"/>
                </a:solidFill>
              </a:rPr>
              <a:t>total_pages</a:t>
            </a:r>
            <a:r>
              <a:rPr lang="en-US" altLang="ja-JP" sz="700" dirty="0">
                <a:solidFill>
                  <a:srgbClr val="7030A0"/>
                </a:solidFill>
              </a:rPr>
              <a:t>} </a:t>
            </a:r>
            <a:r>
              <a:rPr lang="ja-JP" altLang="en-US" sz="700" dirty="0">
                <a:solidFill>
                  <a:srgbClr val="7030A0"/>
                </a:solidFill>
              </a:rPr>
              <a:t>页，开始识别</a:t>
            </a:r>
            <a:r>
              <a:rPr lang="en-US" altLang="ja-JP" sz="700" dirty="0">
                <a:solidFill>
                  <a:srgbClr val="7030A0"/>
                </a:solidFill>
              </a:rPr>
              <a:t>...")</a:t>
            </a:r>
          </a:p>
          <a:p>
            <a:pPr>
              <a:lnSpc>
                <a:spcPct val="100000"/>
              </a:lnSpc>
              <a:spcBef>
                <a:spcPts val="0"/>
              </a:spcBef>
            </a:pPr>
            <a:r>
              <a:rPr lang="en-US" altLang="ja-JP" sz="700" dirty="0">
                <a:solidFill>
                  <a:srgbClr val="FF0000"/>
                </a:solidFill>
              </a:rPr>
              <a:t>results = []</a:t>
            </a:r>
          </a:p>
          <a:p>
            <a:pPr>
              <a:lnSpc>
                <a:spcPct val="100000"/>
              </a:lnSpc>
              <a:spcBef>
                <a:spcPts val="0"/>
              </a:spcBef>
            </a:pPr>
            <a:r>
              <a:rPr lang="en-US" altLang="ja-JP" sz="700" dirty="0">
                <a:solidFill>
                  <a:srgbClr val="FF0000"/>
                </a:solidFill>
              </a:rPr>
              <a:t>for </a:t>
            </a:r>
            <a:r>
              <a:rPr lang="en-US" altLang="ja-JP" sz="700" dirty="0" err="1">
                <a:solidFill>
                  <a:srgbClr val="FF0000"/>
                </a:solidFill>
              </a:rPr>
              <a:t>i</a:t>
            </a:r>
            <a:r>
              <a:rPr lang="en-US" altLang="ja-JP" sz="700" dirty="0">
                <a:solidFill>
                  <a:srgbClr val="FF0000"/>
                </a:solidFill>
              </a:rPr>
              <a:t>, page in enumerate(doc):</a:t>
            </a:r>
          </a:p>
          <a:p>
            <a:pPr>
              <a:lnSpc>
                <a:spcPct val="100000"/>
              </a:lnSpc>
              <a:spcBef>
                <a:spcPts val="0"/>
              </a:spcBef>
            </a:pPr>
            <a:r>
              <a:rPr lang="en-US" altLang="ja-JP" sz="700" dirty="0">
                <a:solidFill>
                  <a:srgbClr val="FF0000"/>
                </a:solidFill>
              </a:rPr>
              <a:t>    print(f"</a:t>
            </a:r>
            <a:r>
              <a:rPr lang="ja-JP" altLang="en-US" sz="700" dirty="0">
                <a:solidFill>
                  <a:srgbClr val="FF0000"/>
                </a:solidFill>
              </a:rPr>
              <a:t>处理第 </a:t>
            </a:r>
            <a:r>
              <a:rPr lang="en-US" altLang="ja-JP" sz="700" dirty="0">
                <a:solidFill>
                  <a:srgbClr val="FF0000"/>
                </a:solidFill>
              </a:rPr>
              <a:t>{i+1}/{</a:t>
            </a:r>
            <a:r>
              <a:rPr lang="en-US" altLang="ja-JP" sz="700" dirty="0" err="1">
                <a:solidFill>
                  <a:srgbClr val="FF0000"/>
                </a:solidFill>
              </a:rPr>
              <a:t>total_pages</a:t>
            </a:r>
            <a:r>
              <a:rPr lang="en-US" altLang="ja-JP" sz="700" dirty="0">
                <a:solidFill>
                  <a:srgbClr val="FF0000"/>
                </a:solidFill>
              </a:rPr>
              <a:t>} </a:t>
            </a:r>
            <a:r>
              <a:rPr lang="ja-JP" altLang="en-US" sz="700" dirty="0">
                <a:solidFill>
                  <a:srgbClr val="FF0000"/>
                </a:solidFill>
              </a:rPr>
              <a:t>页</a:t>
            </a:r>
            <a:r>
              <a:rPr lang="en-US" altLang="ja-JP" sz="700" dirty="0">
                <a:solidFill>
                  <a:srgbClr val="FF0000"/>
                </a:solidFill>
              </a:rPr>
              <a:t>...", end=" ")</a:t>
            </a:r>
          </a:p>
          <a:p>
            <a:pPr>
              <a:lnSpc>
                <a:spcPct val="100000"/>
              </a:lnSpc>
              <a:spcBef>
                <a:spcPts val="0"/>
              </a:spcBef>
            </a:pPr>
            <a:r>
              <a:rPr lang="en-US" altLang="ja-JP" sz="700" dirty="0">
                <a:solidFill>
                  <a:srgbClr val="FF0000"/>
                </a:solidFill>
              </a:rPr>
              <a:t>    pix = </a:t>
            </a:r>
            <a:r>
              <a:rPr lang="en-US" altLang="ja-JP" sz="700" dirty="0" err="1">
                <a:solidFill>
                  <a:srgbClr val="FF0000"/>
                </a:solidFill>
              </a:rPr>
              <a:t>page.get_pixmap</a:t>
            </a:r>
            <a:r>
              <a:rPr lang="en-US" altLang="ja-JP" sz="700" dirty="0">
                <a:solidFill>
                  <a:srgbClr val="FF0000"/>
                </a:solidFill>
              </a:rPr>
              <a:t>(dpi=200)</a:t>
            </a:r>
          </a:p>
          <a:p>
            <a:pPr>
              <a:lnSpc>
                <a:spcPct val="100000"/>
              </a:lnSpc>
              <a:spcBef>
                <a:spcPts val="0"/>
              </a:spcBef>
            </a:pPr>
            <a:r>
              <a:rPr lang="en-US" altLang="ja-JP" sz="700" dirty="0">
                <a:solidFill>
                  <a:srgbClr val="FF0000"/>
                </a:solidFill>
              </a:rPr>
              <a:t>    </a:t>
            </a:r>
            <a:r>
              <a:rPr lang="en-US" altLang="ja-JP" sz="700" dirty="0" err="1">
                <a:solidFill>
                  <a:srgbClr val="FF0000"/>
                </a:solidFill>
              </a:rPr>
              <a:t>img</a:t>
            </a:r>
            <a:r>
              <a:rPr lang="en-US" altLang="ja-JP" sz="700" dirty="0">
                <a:solidFill>
                  <a:srgbClr val="FF0000"/>
                </a:solidFill>
              </a:rPr>
              <a:t> = </a:t>
            </a:r>
            <a:r>
              <a:rPr lang="en-US" altLang="ja-JP" sz="700" dirty="0" err="1">
                <a:solidFill>
                  <a:srgbClr val="FF0000"/>
                </a:solidFill>
              </a:rPr>
              <a:t>Image.open</a:t>
            </a:r>
            <a:r>
              <a:rPr lang="en-US" altLang="ja-JP" sz="700" dirty="0">
                <a:solidFill>
                  <a:srgbClr val="FF0000"/>
                </a:solidFill>
              </a:rPr>
              <a:t>(</a:t>
            </a:r>
            <a:r>
              <a:rPr lang="en-US" altLang="ja-JP" sz="700" dirty="0" err="1">
                <a:solidFill>
                  <a:srgbClr val="FF0000"/>
                </a:solidFill>
              </a:rPr>
              <a:t>io.BytesIO</a:t>
            </a:r>
            <a:r>
              <a:rPr lang="en-US" altLang="ja-JP" sz="700" dirty="0">
                <a:solidFill>
                  <a:srgbClr val="FF0000"/>
                </a:solidFill>
              </a:rPr>
              <a:t>(</a:t>
            </a:r>
            <a:r>
              <a:rPr lang="en-US" altLang="ja-JP" sz="700" dirty="0" err="1">
                <a:solidFill>
                  <a:srgbClr val="FF0000"/>
                </a:solidFill>
              </a:rPr>
              <a:t>pix.tobytes</a:t>
            </a:r>
            <a:r>
              <a:rPr lang="en-US" altLang="ja-JP" sz="700" dirty="0">
                <a:solidFill>
                  <a:srgbClr val="FF0000"/>
                </a:solidFill>
              </a:rPr>
              <a:t>("</a:t>
            </a:r>
            <a:r>
              <a:rPr lang="en-US" altLang="ja-JP" sz="700" dirty="0" err="1">
                <a:solidFill>
                  <a:srgbClr val="FF0000"/>
                </a:solidFill>
              </a:rPr>
              <a:t>png</a:t>
            </a:r>
            <a:r>
              <a:rPr lang="en-US" altLang="ja-JP" sz="700" dirty="0">
                <a:solidFill>
                  <a:srgbClr val="FF0000"/>
                </a:solidFill>
              </a:rPr>
              <a:t>")))</a:t>
            </a:r>
          </a:p>
          <a:p>
            <a:pPr>
              <a:lnSpc>
                <a:spcPct val="100000"/>
              </a:lnSpc>
              <a:spcBef>
                <a:spcPts val="0"/>
              </a:spcBef>
            </a:pPr>
            <a:r>
              <a:rPr lang="en-US" altLang="ja-JP" sz="700" dirty="0">
                <a:solidFill>
                  <a:srgbClr val="FF0000"/>
                </a:solidFill>
              </a:rPr>
              <a:t>    success = False</a:t>
            </a:r>
          </a:p>
          <a:p>
            <a:pPr>
              <a:lnSpc>
                <a:spcPct val="100000"/>
              </a:lnSpc>
              <a:spcBef>
                <a:spcPts val="0"/>
              </a:spcBef>
            </a:pPr>
            <a:r>
              <a:rPr lang="en-US" altLang="ja-JP" sz="700" dirty="0">
                <a:solidFill>
                  <a:srgbClr val="FF0000"/>
                </a:solidFill>
              </a:rPr>
              <a:t>    for attempt in range(3):</a:t>
            </a:r>
          </a:p>
          <a:p>
            <a:pPr>
              <a:lnSpc>
                <a:spcPct val="100000"/>
              </a:lnSpc>
              <a:spcBef>
                <a:spcPts val="0"/>
              </a:spcBef>
            </a:pPr>
            <a:r>
              <a:rPr lang="en-US" altLang="ja-JP" sz="700" dirty="0">
                <a:solidFill>
                  <a:srgbClr val="FF0000"/>
                </a:solidFill>
              </a:rPr>
              <a:t>        try:</a:t>
            </a:r>
          </a:p>
          <a:p>
            <a:pPr>
              <a:lnSpc>
                <a:spcPct val="100000"/>
              </a:lnSpc>
              <a:spcBef>
                <a:spcPts val="0"/>
              </a:spcBef>
            </a:pPr>
            <a:r>
              <a:rPr lang="en-US" altLang="ja-JP" sz="700" dirty="0">
                <a:solidFill>
                  <a:srgbClr val="FF0000"/>
                </a:solidFill>
              </a:rPr>
              <a:t>            response = </a:t>
            </a:r>
            <a:r>
              <a:rPr lang="en-US" altLang="ja-JP" sz="700" dirty="0" err="1">
                <a:solidFill>
                  <a:srgbClr val="FF0000"/>
                </a:solidFill>
              </a:rPr>
              <a:t>client.models.generate_content</a:t>
            </a:r>
            <a:r>
              <a:rPr lang="en-US" altLang="ja-JP" sz="700" dirty="0">
                <a:solidFill>
                  <a:srgbClr val="FF0000"/>
                </a:solidFill>
              </a:rPr>
              <a:t>(</a:t>
            </a:r>
          </a:p>
          <a:p>
            <a:pPr>
              <a:lnSpc>
                <a:spcPct val="100000"/>
              </a:lnSpc>
              <a:spcBef>
                <a:spcPts val="0"/>
              </a:spcBef>
            </a:pPr>
            <a:r>
              <a:rPr lang="en-US" altLang="ja-JP" sz="700" dirty="0">
                <a:solidFill>
                  <a:srgbClr val="FF0000"/>
                </a:solidFill>
              </a:rPr>
              <a:t>                model="</a:t>
            </a:r>
            <a:r>
              <a:rPr lang="en-US" altLang="ja-JP" sz="700" dirty="0" err="1">
                <a:solidFill>
                  <a:srgbClr val="FF0000"/>
                </a:solidFill>
              </a:rPr>
              <a:t>gemini</a:t>
            </a:r>
            <a:r>
              <a:rPr lang="en-US" altLang="ja-JP" sz="700" dirty="0">
                <a:solidFill>
                  <a:srgbClr val="FF0000"/>
                </a:solidFill>
              </a:rPr>
              <a:t>-flash-latest",</a:t>
            </a:r>
          </a:p>
          <a:p>
            <a:pPr>
              <a:lnSpc>
                <a:spcPct val="100000"/>
              </a:lnSpc>
              <a:spcBef>
                <a:spcPts val="0"/>
              </a:spcBef>
            </a:pPr>
            <a:r>
              <a:rPr lang="en-US" altLang="ja-JP" sz="700" dirty="0">
                <a:solidFill>
                  <a:srgbClr val="FF0000"/>
                </a:solidFill>
              </a:rPr>
              <a:t>                contents=[</a:t>
            </a:r>
          </a:p>
          <a:p>
            <a:pPr>
              <a:lnSpc>
                <a:spcPct val="100000"/>
              </a:lnSpc>
              <a:spcBef>
                <a:spcPts val="0"/>
              </a:spcBef>
            </a:pPr>
            <a:r>
              <a:rPr lang="en-US" altLang="ja-JP" sz="700" dirty="0">
                <a:solidFill>
                  <a:srgbClr val="FF0000"/>
                </a:solidFill>
              </a:rPr>
              <a:t>                    </a:t>
            </a:r>
            <a:r>
              <a:rPr lang="en-US" altLang="ja-JP" sz="700" dirty="0" err="1">
                <a:solidFill>
                  <a:srgbClr val="FF0000"/>
                </a:solidFill>
              </a:rPr>
              <a:t>img</a:t>
            </a:r>
            <a:r>
              <a:rPr lang="en-US" altLang="ja-JP" sz="700" dirty="0">
                <a:solidFill>
                  <a:srgbClr val="FF0000"/>
                </a:solidFill>
              </a:rPr>
              <a:t>,</a:t>
            </a:r>
          </a:p>
          <a:p>
            <a:pPr>
              <a:lnSpc>
                <a:spcPct val="100000"/>
              </a:lnSpc>
              <a:spcBef>
                <a:spcPts val="0"/>
              </a:spcBef>
            </a:pPr>
            <a:r>
              <a:rPr lang="en-US" altLang="ja-JP" sz="700" dirty="0">
                <a:solidFill>
                  <a:srgbClr val="FF0000"/>
                </a:solidFill>
              </a:rPr>
              <a:t>                    "</a:t>
            </a:r>
            <a:r>
              <a:rPr lang="ja-JP" altLang="en-US" sz="700" dirty="0">
                <a:solidFill>
                  <a:srgbClr val="FF0000"/>
                </a:solidFill>
              </a:rPr>
              <a:t>请识别图片中所有文字，包括印刷体和手写体。手写部分请尽力辨认，不确定的字用</a:t>
            </a:r>
            <a:r>
              <a:rPr lang="en-US" altLang="ja-JP" sz="700" dirty="0">
                <a:solidFill>
                  <a:srgbClr val="FF0000"/>
                </a:solidFill>
              </a:rPr>
              <a:t>【</a:t>
            </a:r>
            <a:r>
              <a:rPr lang="ja-JP" altLang="en-US" sz="700" dirty="0">
                <a:solidFill>
                  <a:srgbClr val="FF0000"/>
                </a:solidFill>
              </a:rPr>
              <a:t>？</a:t>
            </a:r>
            <a:r>
              <a:rPr lang="en-US" altLang="ja-JP" sz="700" dirty="0">
                <a:solidFill>
                  <a:srgbClr val="FF0000"/>
                </a:solidFill>
              </a:rPr>
              <a:t>】</a:t>
            </a:r>
            <a:r>
              <a:rPr lang="ja-JP" altLang="en-US" sz="700" dirty="0">
                <a:solidFill>
                  <a:srgbClr val="FF0000"/>
                </a:solidFill>
              </a:rPr>
              <a:t>标注。按照原文的段落结构输出，不要添加任何解释。</a:t>
            </a:r>
            <a:r>
              <a:rPr lang="en-US" altLang="ja-JP" sz="700" dirty="0">
                <a:solidFill>
                  <a:srgbClr val="FF0000"/>
                </a:solidFill>
              </a:rPr>
              <a:t>"</a:t>
            </a:r>
          </a:p>
          <a:p>
            <a:pPr>
              <a:lnSpc>
                <a:spcPct val="100000"/>
              </a:lnSpc>
              <a:spcBef>
                <a:spcPts val="0"/>
              </a:spcBef>
            </a:pPr>
            <a:r>
              <a:rPr lang="en-US" altLang="ja-JP" sz="700" dirty="0">
                <a:solidFill>
                  <a:srgbClr val="FF0000"/>
                </a:solidFill>
              </a:rPr>
              <a:t>                ]</a:t>
            </a:r>
          </a:p>
          <a:p>
            <a:pPr>
              <a:lnSpc>
                <a:spcPct val="100000"/>
              </a:lnSpc>
              <a:spcBef>
                <a:spcPts val="0"/>
              </a:spcBef>
            </a:pPr>
            <a:r>
              <a:rPr lang="en-US" altLang="ja-JP" sz="700" dirty="0">
                <a:solidFill>
                  <a:srgbClr val="FF0000"/>
                </a:solidFill>
              </a:rPr>
              <a:t>            )</a:t>
            </a:r>
          </a:p>
          <a:p>
            <a:pPr>
              <a:lnSpc>
                <a:spcPct val="100000"/>
              </a:lnSpc>
              <a:spcBef>
                <a:spcPts val="0"/>
              </a:spcBef>
            </a:pPr>
            <a:r>
              <a:rPr lang="en-US" altLang="ja-JP" sz="700" dirty="0">
                <a:solidFill>
                  <a:srgbClr val="FF0000"/>
                </a:solidFill>
              </a:rPr>
              <a:t>            text = </a:t>
            </a:r>
            <a:r>
              <a:rPr lang="en-US" altLang="ja-JP" sz="700" dirty="0" err="1">
                <a:solidFill>
                  <a:srgbClr val="FF0000"/>
                </a:solidFill>
              </a:rPr>
              <a:t>response.text</a:t>
            </a:r>
            <a:endParaRPr lang="en-US" altLang="ja-JP" sz="700" dirty="0">
              <a:solidFill>
                <a:srgbClr val="FF0000"/>
              </a:solidFill>
            </a:endParaRPr>
          </a:p>
          <a:p>
            <a:pPr>
              <a:lnSpc>
                <a:spcPct val="100000"/>
              </a:lnSpc>
              <a:spcBef>
                <a:spcPts val="0"/>
              </a:spcBef>
            </a:pPr>
            <a:r>
              <a:rPr lang="en-US" altLang="ja-JP" sz="700" dirty="0">
                <a:solidFill>
                  <a:srgbClr val="FF0000"/>
                </a:solidFill>
              </a:rPr>
              <a:t>            print(f"✓ {</a:t>
            </a:r>
            <a:r>
              <a:rPr lang="en-US" altLang="ja-JP" sz="700" dirty="0" err="1">
                <a:solidFill>
                  <a:srgbClr val="FF0000"/>
                </a:solidFill>
              </a:rPr>
              <a:t>len</a:t>
            </a:r>
            <a:r>
              <a:rPr lang="en-US" altLang="ja-JP" sz="700" dirty="0">
                <a:solidFill>
                  <a:srgbClr val="FF0000"/>
                </a:solidFill>
              </a:rPr>
              <a:t>(text)} </a:t>
            </a:r>
            <a:r>
              <a:rPr lang="ja-JP" altLang="en-US" sz="700" dirty="0">
                <a:solidFill>
                  <a:srgbClr val="FF0000"/>
                </a:solidFill>
              </a:rPr>
              <a:t>字</a:t>
            </a:r>
            <a:r>
              <a:rPr lang="en-US" altLang="ja-JP" sz="700" dirty="0">
                <a:solidFill>
                  <a:srgbClr val="FF0000"/>
                </a:solidFill>
              </a:rPr>
              <a:t>")</a:t>
            </a:r>
          </a:p>
          <a:p>
            <a:pPr>
              <a:lnSpc>
                <a:spcPct val="100000"/>
              </a:lnSpc>
              <a:spcBef>
                <a:spcPts val="0"/>
              </a:spcBef>
            </a:pPr>
            <a:r>
              <a:rPr lang="en-US" altLang="ja-JP" sz="700" dirty="0">
                <a:solidFill>
                  <a:srgbClr val="FF0000"/>
                </a:solidFill>
              </a:rPr>
              <a:t>            success = True</a:t>
            </a:r>
          </a:p>
          <a:p>
            <a:pPr>
              <a:lnSpc>
                <a:spcPct val="100000"/>
              </a:lnSpc>
              <a:spcBef>
                <a:spcPts val="0"/>
              </a:spcBef>
            </a:pPr>
            <a:r>
              <a:rPr lang="en-US" altLang="ja-JP" sz="700" dirty="0">
                <a:solidFill>
                  <a:srgbClr val="FF0000"/>
                </a:solidFill>
              </a:rPr>
              <a:t>            break</a:t>
            </a:r>
          </a:p>
          <a:p>
            <a:pPr>
              <a:lnSpc>
                <a:spcPct val="100000"/>
              </a:lnSpc>
              <a:spcBef>
                <a:spcPts val="0"/>
              </a:spcBef>
            </a:pPr>
            <a:r>
              <a:rPr lang="en-US" altLang="ja-JP" sz="700" dirty="0">
                <a:solidFill>
                  <a:srgbClr val="FF0000"/>
                </a:solidFill>
              </a:rPr>
              <a:t>        except Exception as e:</a:t>
            </a:r>
          </a:p>
          <a:p>
            <a:pPr>
              <a:lnSpc>
                <a:spcPct val="100000"/>
              </a:lnSpc>
              <a:spcBef>
                <a:spcPts val="0"/>
              </a:spcBef>
            </a:pPr>
            <a:r>
              <a:rPr lang="en-US" altLang="ja-JP" sz="700" dirty="0">
                <a:solidFill>
                  <a:srgbClr val="FF0000"/>
                </a:solidFill>
              </a:rPr>
              <a:t>            if attempt &lt; 2:</a:t>
            </a:r>
          </a:p>
          <a:p>
            <a:pPr>
              <a:lnSpc>
                <a:spcPct val="100000"/>
              </a:lnSpc>
              <a:spcBef>
                <a:spcPts val="0"/>
              </a:spcBef>
            </a:pPr>
            <a:r>
              <a:rPr lang="en-US" altLang="ja-JP" sz="700" dirty="0">
                <a:solidFill>
                  <a:srgbClr val="FF0000"/>
                </a:solidFill>
              </a:rPr>
              <a:t>                print(f"</a:t>
            </a:r>
            <a:r>
              <a:rPr lang="ja-JP" altLang="en-US" sz="700" dirty="0">
                <a:solidFill>
                  <a:srgbClr val="FF0000"/>
                </a:solidFill>
              </a:rPr>
              <a:t>重试中</a:t>
            </a:r>
            <a:r>
              <a:rPr lang="en-US" altLang="ja-JP" sz="700" dirty="0">
                <a:solidFill>
                  <a:srgbClr val="FF0000"/>
                </a:solidFill>
              </a:rPr>
              <a:t>...", end=" ")</a:t>
            </a:r>
          </a:p>
          <a:p>
            <a:pPr>
              <a:lnSpc>
                <a:spcPct val="100000"/>
              </a:lnSpc>
              <a:spcBef>
                <a:spcPts val="0"/>
              </a:spcBef>
            </a:pPr>
            <a:r>
              <a:rPr lang="en-US" altLang="ja-JP" sz="700" dirty="0">
                <a:solidFill>
                  <a:srgbClr val="FF0000"/>
                </a:solidFill>
              </a:rPr>
              <a:t>                </a:t>
            </a:r>
            <a:r>
              <a:rPr lang="en-US" altLang="ja-JP" sz="700" dirty="0" err="1">
                <a:solidFill>
                  <a:srgbClr val="FF0000"/>
                </a:solidFill>
              </a:rPr>
              <a:t>time.sleep</a:t>
            </a:r>
            <a:r>
              <a:rPr lang="en-US" altLang="ja-JP" sz="700" dirty="0">
                <a:solidFill>
                  <a:srgbClr val="FF0000"/>
                </a:solidFill>
              </a:rPr>
              <a:t>(15)</a:t>
            </a:r>
          </a:p>
          <a:p>
            <a:pPr>
              <a:lnSpc>
                <a:spcPct val="100000"/>
              </a:lnSpc>
              <a:spcBef>
                <a:spcPts val="0"/>
              </a:spcBef>
            </a:pPr>
            <a:r>
              <a:rPr lang="en-US" altLang="ja-JP" sz="700" dirty="0">
                <a:solidFill>
                  <a:srgbClr val="FF0000"/>
                </a:solidFill>
              </a:rPr>
              <a:t>            else:</a:t>
            </a:r>
          </a:p>
          <a:p>
            <a:pPr>
              <a:lnSpc>
                <a:spcPct val="100000"/>
              </a:lnSpc>
              <a:spcBef>
                <a:spcPts val="0"/>
              </a:spcBef>
            </a:pPr>
            <a:r>
              <a:rPr lang="en-US" altLang="ja-JP" sz="700" dirty="0">
                <a:solidFill>
                  <a:srgbClr val="FF0000"/>
                </a:solidFill>
              </a:rPr>
              <a:t>                text = f"[</a:t>
            </a:r>
            <a:r>
              <a:rPr lang="ja-JP" altLang="en-US" sz="700" dirty="0">
                <a:solidFill>
                  <a:srgbClr val="FF0000"/>
                </a:solidFill>
              </a:rPr>
              <a:t>识别失败：</a:t>
            </a:r>
            <a:r>
              <a:rPr lang="en-US" altLang="ja-JP" sz="700" dirty="0">
                <a:solidFill>
                  <a:srgbClr val="FF0000"/>
                </a:solidFill>
              </a:rPr>
              <a:t>{e}]"</a:t>
            </a:r>
          </a:p>
          <a:p>
            <a:pPr>
              <a:lnSpc>
                <a:spcPct val="100000"/>
              </a:lnSpc>
              <a:spcBef>
                <a:spcPts val="0"/>
              </a:spcBef>
            </a:pPr>
            <a:r>
              <a:rPr lang="en-US" altLang="ja-JP" sz="700" dirty="0">
                <a:solidFill>
                  <a:srgbClr val="FF0000"/>
                </a:solidFill>
              </a:rPr>
              <a:t>                print(f"✗ </a:t>
            </a:r>
            <a:r>
              <a:rPr lang="ja-JP" altLang="en-US" sz="700" dirty="0">
                <a:solidFill>
                  <a:srgbClr val="FF0000"/>
                </a:solidFill>
              </a:rPr>
              <a:t>失败</a:t>
            </a:r>
            <a:r>
              <a:rPr lang="en-US" altLang="ja-JP" sz="700" dirty="0">
                <a:solidFill>
                  <a:srgbClr val="FF0000"/>
                </a:solidFill>
              </a:rPr>
              <a:t>")</a:t>
            </a:r>
          </a:p>
          <a:p>
            <a:pPr marL="0" indent="0">
              <a:lnSpc>
                <a:spcPct val="100000"/>
              </a:lnSpc>
              <a:spcBef>
                <a:spcPts val="0"/>
              </a:spcBef>
              <a:buNone/>
            </a:pPr>
            <a:endParaRPr lang="en-US" altLang="ja-JP" sz="700" dirty="0">
              <a:solidFill>
                <a:schemeClr val="accent2">
                  <a:lumMod val="75000"/>
                </a:schemeClr>
              </a:solidFill>
            </a:endParaRPr>
          </a:p>
          <a:p>
            <a:pPr>
              <a:lnSpc>
                <a:spcPct val="100000"/>
              </a:lnSpc>
              <a:spcBef>
                <a:spcPts val="0"/>
              </a:spcBef>
            </a:pPr>
            <a:r>
              <a:rPr lang="en-US" altLang="ja-JP" sz="700" dirty="0">
                <a:solidFill>
                  <a:schemeClr val="accent2">
                    <a:lumMod val="50000"/>
                  </a:schemeClr>
                </a:solidFill>
              </a:rPr>
              <a:t>    </a:t>
            </a:r>
            <a:r>
              <a:rPr lang="en-US" altLang="ja-JP" sz="700" dirty="0" err="1">
                <a:solidFill>
                  <a:schemeClr val="accent2">
                    <a:lumMod val="50000"/>
                  </a:schemeClr>
                </a:solidFill>
              </a:rPr>
              <a:t>results.append</a:t>
            </a:r>
            <a:r>
              <a:rPr lang="en-US" altLang="ja-JP" sz="700" dirty="0">
                <a:solidFill>
                  <a:schemeClr val="accent2">
                    <a:lumMod val="50000"/>
                  </a:schemeClr>
                </a:solidFill>
              </a:rPr>
              <a:t>(f"\n{'='*50}\n</a:t>
            </a:r>
            <a:r>
              <a:rPr lang="ja-JP" altLang="en-US" sz="700" dirty="0">
                <a:solidFill>
                  <a:schemeClr val="accent2">
                    <a:lumMod val="50000"/>
                  </a:schemeClr>
                </a:solidFill>
              </a:rPr>
              <a:t>第 </a:t>
            </a:r>
            <a:r>
              <a:rPr lang="en-US" altLang="ja-JP" sz="700" dirty="0">
                <a:solidFill>
                  <a:schemeClr val="accent2">
                    <a:lumMod val="50000"/>
                  </a:schemeClr>
                </a:solidFill>
              </a:rPr>
              <a:t>{i+1} </a:t>
            </a:r>
            <a:r>
              <a:rPr lang="ja-JP" altLang="en-US" sz="700" dirty="0">
                <a:solidFill>
                  <a:schemeClr val="accent2">
                    <a:lumMod val="50000"/>
                  </a:schemeClr>
                </a:solidFill>
              </a:rPr>
              <a:t>页</a:t>
            </a:r>
            <a:r>
              <a:rPr lang="en-US" altLang="ja-JP" sz="700" dirty="0">
                <a:solidFill>
                  <a:schemeClr val="accent2">
                    <a:lumMod val="50000"/>
                  </a:schemeClr>
                </a:solidFill>
              </a:rPr>
              <a:t>\n{'='*50}\n{text}\n")</a:t>
            </a:r>
          </a:p>
          <a:p>
            <a:pPr>
              <a:lnSpc>
                <a:spcPct val="100000"/>
              </a:lnSpc>
              <a:spcBef>
                <a:spcPts val="0"/>
              </a:spcBef>
            </a:pPr>
            <a:r>
              <a:rPr lang="en-US" altLang="ja-JP" sz="700" dirty="0">
                <a:solidFill>
                  <a:schemeClr val="accent2">
                    <a:lumMod val="50000"/>
                  </a:schemeClr>
                </a:solidFill>
              </a:rPr>
              <a:t>    </a:t>
            </a:r>
            <a:r>
              <a:rPr lang="en-US" altLang="ja-JP" sz="700" dirty="0" err="1">
                <a:solidFill>
                  <a:schemeClr val="accent2">
                    <a:lumMod val="50000"/>
                  </a:schemeClr>
                </a:solidFill>
              </a:rPr>
              <a:t>time.sleep</a:t>
            </a:r>
            <a:r>
              <a:rPr lang="en-US" altLang="ja-JP" sz="700" dirty="0">
                <a:solidFill>
                  <a:schemeClr val="accent2">
                    <a:lumMod val="50000"/>
                  </a:schemeClr>
                </a:solidFill>
              </a:rPr>
              <a:t>(3)  # </a:t>
            </a:r>
            <a:r>
              <a:rPr lang="ja-JP" altLang="en-US" sz="700" dirty="0">
                <a:solidFill>
                  <a:schemeClr val="accent2">
                    <a:lumMod val="50000"/>
                  </a:schemeClr>
                </a:solidFill>
              </a:rPr>
              <a:t>每页间隔</a:t>
            </a:r>
            <a:r>
              <a:rPr lang="en-US" altLang="ja-JP" sz="700" dirty="0">
                <a:solidFill>
                  <a:schemeClr val="accent2">
                    <a:lumMod val="50000"/>
                  </a:schemeClr>
                </a:solidFill>
              </a:rPr>
              <a:t>3</a:t>
            </a:r>
            <a:r>
              <a:rPr lang="ja-JP" altLang="en-US" sz="700" dirty="0">
                <a:solidFill>
                  <a:schemeClr val="accent2">
                    <a:lumMod val="50000"/>
                  </a:schemeClr>
                </a:solidFill>
              </a:rPr>
              <a:t>秒</a:t>
            </a:r>
          </a:p>
          <a:p>
            <a:pPr>
              <a:lnSpc>
                <a:spcPct val="100000"/>
              </a:lnSpc>
              <a:spcBef>
                <a:spcPts val="0"/>
              </a:spcBef>
            </a:pPr>
            <a:endParaRPr lang="ja-JP" altLang="en-US" sz="700" dirty="0"/>
          </a:p>
          <a:p>
            <a:pPr>
              <a:lnSpc>
                <a:spcPct val="100000"/>
              </a:lnSpc>
              <a:spcBef>
                <a:spcPts val="0"/>
              </a:spcBef>
            </a:pPr>
            <a:r>
              <a:rPr lang="en-US" altLang="ja-JP" sz="700" dirty="0">
                <a:solidFill>
                  <a:schemeClr val="accent2">
                    <a:lumMod val="50000"/>
                  </a:schemeClr>
                </a:solidFill>
              </a:rPr>
              <a:t>with open(OUTPUT_PATH, "w", encoding="utf-8") as f:</a:t>
            </a:r>
          </a:p>
          <a:p>
            <a:pPr>
              <a:lnSpc>
                <a:spcPct val="100000"/>
              </a:lnSpc>
              <a:spcBef>
                <a:spcPts val="0"/>
              </a:spcBef>
            </a:pPr>
            <a:r>
              <a:rPr lang="en-US" altLang="ja-JP" sz="700" dirty="0">
                <a:solidFill>
                  <a:schemeClr val="accent2">
                    <a:lumMod val="50000"/>
                  </a:schemeClr>
                </a:solidFill>
              </a:rPr>
              <a:t>    </a:t>
            </a:r>
            <a:r>
              <a:rPr lang="en-US" altLang="ja-JP" sz="700" dirty="0" err="1">
                <a:solidFill>
                  <a:schemeClr val="accent2">
                    <a:lumMod val="50000"/>
                  </a:schemeClr>
                </a:solidFill>
              </a:rPr>
              <a:t>f.writelines</a:t>
            </a:r>
            <a:r>
              <a:rPr lang="en-US" altLang="ja-JP" sz="700" dirty="0">
                <a:solidFill>
                  <a:schemeClr val="accent2">
                    <a:lumMod val="50000"/>
                  </a:schemeClr>
                </a:solidFill>
              </a:rPr>
              <a:t>(results)</a:t>
            </a:r>
          </a:p>
          <a:p>
            <a:pPr>
              <a:lnSpc>
                <a:spcPct val="100000"/>
              </a:lnSpc>
              <a:spcBef>
                <a:spcPts val="0"/>
              </a:spcBef>
            </a:pPr>
            <a:endParaRPr lang="en-US" altLang="ja-JP" sz="700" dirty="0">
              <a:solidFill>
                <a:schemeClr val="accent2">
                  <a:lumMod val="50000"/>
                </a:schemeClr>
              </a:solidFill>
            </a:endParaRPr>
          </a:p>
          <a:p>
            <a:pPr>
              <a:lnSpc>
                <a:spcPct val="100000"/>
              </a:lnSpc>
              <a:spcBef>
                <a:spcPts val="0"/>
              </a:spcBef>
            </a:pPr>
            <a:r>
              <a:rPr lang="en-US" altLang="ja-JP" sz="700" dirty="0">
                <a:solidFill>
                  <a:schemeClr val="accent2">
                    <a:lumMod val="50000"/>
                  </a:schemeClr>
                </a:solidFill>
              </a:rPr>
              <a:t>print(f"\n</a:t>
            </a:r>
            <a:r>
              <a:rPr lang="ja-JP" altLang="en-US" sz="700" dirty="0">
                <a:solidFill>
                  <a:schemeClr val="accent2">
                    <a:lumMod val="50000"/>
                  </a:schemeClr>
                </a:solidFill>
              </a:rPr>
              <a:t>完成！结果保存至：</a:t>
            </a:r>
            <a:r>
              <a:rPr lang="en-US" altLang="ja-JP" sz="700" dirty="0">
                <a:solidFill>
                  <a:schemeClr val="accent2">
                    <a:lumMod val="50000"/>
                  </a:schemeClr>
                </a:solidFill>
              </a:rPr>
              <a:t>{OUTPUT_PATH}")</a:t>
            </a:r>
          </a:p>
          <a:p>
            <a:pPr marL="0" indent="0">
              <a:lnSpc>
                <a:spcPct val="100000"/>
              </a:lnSpc>
              <a:spcBef>
                <a:spcPts val="0"/>
              </a:spcBef>
              <a:buNone/>
            </a:pPr>
            <a:endParaRPr kumimoji="1" lang="ja-JP" altLang="en-US" sz="100" dirty="0"/>
          </a:p>
        </p:txBody>
      </p:sp>
      <p:sp>
        <p:nvSpPr>
          <p:cNvPr id="2" name="标题 1">
            <a:extLst>
              <a:ext uri="{FF2B5EF4-FFF2-40B4-BE49-F238E27FC236}">
                <a16:creationId xmlns:a16="http://schemas.microsoft.com/office/drawing/2014/main" id="{1BBEAD68-9E9A-11B5-0D06-8818D7E57B87}"/>
              </a:ext>
            </a:extLst>
          </p:cNvPr>
          <p:cNvSpPr>
            <a:spLocks noGrp="1"/>
          </p:cNvSpPr>
          <p:nvPr>
            <p:ph type="title"/>
          </p:nvPr>
        </p:nvSpPr>
        <p:spPr>
          <a:xfrm>
            <a:off x="838200" y="365125"/>
            <a:ext cx="10515600" cy="54497"/>
          </a:xfrm>
        </p:spPr>
        <p:txBody>
          <a:bodyPr>
            <a:normAutofit fontScale="90000"/>
          </a:bodyPr>
          <a:lstStyle/>
          <a:p>
            <a:r>
              <a:rPr kumimoji="1" lang="en-US" altLang="ja-JP" dirty="0"/>
              <a:t>2.2 Python Supported AI OCR: </a:t>
            </a:r>
            <a:r>
              <a:rPr lang="en-US" altLang="ja-JP" dirty="0"/>
              <a:t>Program</a:t>
            </a:r>
            <a:r>
              <a:rPr lang="en-US" altLang="ja-JP" sz="3100" dirty="0"/>
              <a:t> </a:t>
            </a:r>
            <a:r>
              <a:rPr lang="en-US" altLang="ja-JP" sz="2200" dirty="0"/>
              <a:t>(from Claude)</a:t>
            </a:r>
            <a:endParaRPr kumimoji="1" lang="ja-JP" altLang="en-US" dirty="0"/>
          </a:p>
        </p:txBody>
      </p:sp>
      <p:sp>
        <p:nvSpPr>
          <p:cNvPr id="6" name="文本框 5">
            <a:extLst>
              <a:ext uri="{FF2B5EF4-FFF2-40B4-BE49-F238E27FC236}">
                <a16:creationId xmlns:a16="http://schemas.microsoft.com/office/drawing/2014/main" id="{C33C5865-FEC3-491C-F173-71DE6F3BB2C5}"/>
              </a:ext>
            </a:extLst>
          </p:cNvPr>
          <p:cNvSpPr txBox="1"/>
          <p:nvPr/>
        </p:nvSpPr>
        <p:spPr>
          <a:xfrm>
            <a:off x="6936058" y="643221"/>
            <a:ext cx="4921405" cy="5678478"/>
          </a:xfrm>
          <a:prstGeom prst="rect">
            <a:avLst/>
          </a:prstGeom>
          <a:noFill/>
        </p:spPr>
        <p:txBody>
          <a:bodyPr wrap="square">
            <a:spAutoFit/>
          </a:bodyPr>
          <a:lstStyle/>
          <a:p>
            <a:r>
              <a:rPr lang="ja-JP" altLang="en-US" sz="1100" dirty="0"/>
              <a:t>Step 1  ツールの準備</a:t>
            </a:r>
          </a:p>
          <a:p>
            <a:r>
              <a:rPr lang="ja-JP" altLang="en-US" sz="1100" dirty="0"/>
              <a:t>        PDF・画像・AI 用ライブラリをインストール</a:t>
            </a:r>
          </a:p>
          <a:p>
            <a:endParaRPr lang="ja-JP" altLang="en-US" sz="1100" dirty="0"/>
          </a:p>
          <a:p>
            <a:r>
              <a:rPr lang="ja-JP" altLang="en-US" sz="1100" dirty="0">
                <a:solidFill>
                  <a:srgbClr val="0070C0"/>
                </a:solidFill>
              </a:rPr>
              <a:t>Step 2  Google Drive のマウント</a:t>
            </a:r>
          </a:p>
          <a:p>
            <a:r>
              <a:rPr lang="ja-JP" altLang="en-US" sz="1100" dirty="0">
                <a:solidFill>
                  <a:srgbClr val="0070C0"/>
                </a:solidFill>
              </a:rPr>
              <a:t>        クラウド上の研究資料へのアクセスを許可</a:t>
            </a:r>
            <a:endParaRPr lang="en-US" altLang="ja-JP" sz="1100" dirty="0">
              <a:solidFill>
                <a:srgbClr val="0070C0"/>
              </a:solidFill>
            </a:endParaRPr>
          </a:p>
          <a:p>
            <a:r>
              <a:rPr lang="en-US" altLang="ja-JP" sz="1100" dirty="0">
                <a:solidFill>
                  <a:srgbClr val="0070C0"/>
                </a:solidFill>
              </a:rPr>
              <a:t>        </a:t>
            </a:r>
            <a:r>
              <a:rPr lang="ja-JP" altLang="en-US" sz="1100" dirty="0">
                <a:solidFill>
                  <a:srgbClr val="0070C0"/>
                </a:solidFill>
              </a:rPr>
              <a:t>ツールをインストールする</a:t>
            </a:r>
          </a:p>
          <a:p>
            <a:endParaRPr lang="ja-JP" altLang="en-US" sz="1100" dirty="0">
              <a:solidFill>
                <a:srgbClr val="00B050"/>
              </a:solidFill>
            </a:endParaRPr>
          </a:p>
          <a:p>
            <a:r>
              <a:rPr lang="ja-JP" altLang="en-US" sz="1100" dirty="0">
                <a:solidFill>
                  <a:srgbClr val="00B050"/>
                </a:solidFill>
              </a:rPr>
              <a:t>Step 3  パラメータ設定</a:t>
            </a:r>
          </a:p>
          <a:p>
            <a:r>
              <a:rPr lang="ja-JP" altLang="en-US" sz="1100" dirty="0">
                <a:solidFill>
                  <a:srgbClr val="00B050"/>
                </a:solidFill>
              </a:rPr>
              <a:t>        API キー、PDF パス、出力先を指定</a:t>
            </a:r>
          </a:p>
          <a:p>
            <a:endParaRPr lang="ja-JP" altLang="en-US" sz="1100" dirty="0"/>
          </a:p>
          <a:p>
            <a:r>
              <a:rPr lang="ja-JP" altLang="en-US" sz="1100" dirty="0">
                <a:solidFill>
                  <a:srgbClr val="7030A0"/>
                </a:solidFill>
              </a:rPr>
              <a:t>Step 4  PDF の読み込み</a:t>
            </a:r>
          </a:p>
          <a:p>
            <a:r>
              <a:rPr lang="ja-JP" altLang="en-US" sz="1100" dirty="0">
                <a:solidFill>
                  <a:srgbClr val="7030A0"/>
                </a:solidFill>
              </a:rPr>
              <a:t>        ファイルを開き、総ページ数を取得</a:t>
            </a:r>
          </a:p>
          <a:p>
            <a:endParaRPr lang="en-US" altLang="ja-JP" sz="1100" dirty="0"/>
          </a:p>
          <a:p>
            <a:endParaRPr lang="ja-JP" altLang="en-US" sz="1100" dirty="0"/>
          </a:p>
          <a:p>
            <a:r>
              <a:rPr lang="ja-JP" altLang="en-US" sz="1100" dirty="0">
                <a:solidFill>
                  <a:srgbClr val="FF0000"/>
                </a:solidFill>
              </a:rPr>
              <a:t>Step 5  ページごとの処理(コアループ)</a:t>
            </a:r>
          </a:p>
          <a:p>
            <a:r>
              <a:rPr lang="ja-JP" altLang="en-US" sz="1100" dirty="0">
                <a:solidFill>
                  <a:srgbClr val="FF0000"/>
                </a:solidFill>
              </a:rPr>
              <a:t>        ┌──────────────────────────────────┐</a:t>
            </a:r>
          </a:p>
          <a:p>
            <a:r>
              <a:rPr lang="ja-JP" altLang="en-US" sz="1100" dirty="0">
                <a:solidFill>
                  <a:srgbClr val="FF0000"/>
                </a:solidFill>
              </a:rPr>
              <a:t>        │  ① 現在のページを画像に変換          │</a:t>
            </a:r>
          </a:p>
          <a:p>
            <a:r>
              <a:rPr lang="ja-JP" altLang="en-US" sz="1100" dirty="0">
                <a:solidFill>
                  <a:srgbClr val="FF0000"/>
                </a:solidFill>
              </a:rPr>
              <a:t>        │  ② 画像と指示を AI に送信            │</a:t>
            </a:r>
          </a:p>
          <a:p>
            <a:r>
              <a:rPr lang="ja-JP" altLang="en-US" sz="1100" dirty="0">
                <a:solidFill>
                  <a:srgbClr val="FF0000"/>
                </a:solidFill>
              </a:rPr>
              <a:t>        │  ③ 認識されたテキストを受信          │</a:t>
            </a:r>
          </a:p>
          <a:p>
            <a:r>
              <a:rPr lang="ja-JP" altLang="en-US" sz="1100" dirty="0">
                <a:solidFill>
                  <a:srgbClr val="FF0000"/>
                </a:solidFill>
              </a:rPr>
              <a:t>        │  ④ 失敗時は最大 3 回まで再試行       │</a:t>
            </a:r>
          </a:p>
          <a:p>
            <a:r>
              <a:rPr lang="ja-JP" altLang="en-US" sz="1100" dirty="0">
                <a:solidFill>
                  <a:srgbClr val="FF0000"/>
                </a:solidFill>
              </a:rPr>
              <a:t>        └──────────────────────────────────┘</a:t>
            </a:r>
          </a:p>
          <a:p>
            <a:r>
              <a:rPr lang="ja-JP" altLang="en-US" sz="1100" dirty="0">
                <a:solidFill>
                  <a:srgbClr val="FF0000"/>
                </a:solidFill>
              </a:rPr>
              <a:t>        212 ページ繰り返し</a:t>
            </a:r>
            <a:endParaRPr lang="en-US" altLang="ja-JP" sz="1100" dirty="0">
              <a:solidFill>
                <a:srgbClr val="FF0000"/>
              </a:solidFill>
            </a:endParaRPr>
          </a:p>
          <a:p>
            <a:endParaRPr lang="en-US" altLang="ja-JP" sz="1100" dirty="0">
              <a:solidFill>
                <a:srgbClr val="FF0000"/>
              </a:solidFill>
            </a:endParaRPr>
          </a:p>
          <a:p>
            <a:endParaRPr lang="en-US" altLang="ja-JP" sz="1100" dirty="0">
              <a:solidFill>
                <a:srgbClr val="FF0000"/>
              </a:solidFill>
            </a:endParaRPr>
          </a:p>
          <a:p>
            <a:endParaRPr lang="en-US" altLang="ja-JP" sz="1100" dirty="0">
              <a:solidFill>
                <a:srgbClr val="FF0000"/>
              </a:solidFill>
            </a:endParaRPr>
          </a:p>
          <a:p>
            <a:endParaRPr lang="ja-JP" altLang="en-US" sz="1100" dirty="0">
              <a:solidFill>
                <a:srgbClr val="FF0000"/>
              </a:solidFill>
            </a:endParaRPr>
          </a:p>
          <a:p>
            <a:endParaRPr lang="ja-JP" altLang="en-US" sz="1100" dirty="0"/>
          </a:p>
          <a:p>
            <a:r>
              <a:rPr lang="ja-JP" altLang="en-US" sz="1100" dirty="0">
                <a:solidFill>
                  <a:schemeClr val="accent2">
                    <a:lumMod val="50000"/>
                  </a:schemeClr>
                </a:solidFill>
              </a:rPr>
              <a:t>Step 6  結果の保存</a:t>
            </a:r>
          </a:p>
          <a:p>
            <a:r>
              <a:rPr lang="ja-JP" altLang="en-US" sz="1100" dirty="0">
                <a:solidFill>
                  <a:schemeClr val="accent2">
                    <a:lumMod val="50000"/>
                  </a:schemeClr>
                </a:solidFill>
              </a:rPr>
              <a:t>        全ページの結果を .txt ファイルに集約</a:t>
            </a:r>
          </a:p>
        </p:txBody>
      </p:sp>
      <p:pic>
        <p:nvPicPr>
          <p:cNvPr id="11" name="图片 10">
            <a:extLst>
              <a:ext uri="{FF2B5EF4-FFF2-40B4-BE49-F238E27FC236}">
                <a16:creationId xmlns:a16="http://schemas.microsoft.com/office/drawing/2014/main" id="{C49EA2BF-7A03-FCE1-0919-6252E47CF137}"/>
              </a:ext>
            </a:extLst>
          </p:cNvPr>
          <p:cNvPicPr>
            <a:picLocks noChangeAspect="1"/>
          </p:cNvPicPr>
          <p:nvPr/>
        </p:nvPicPr>
        <p:blipFill>
          <a:blip r:embed="rId2"/>
          <a:stretch>
            <a:fillRect/>
          </a:stretch>
        </p:blipFill>
        <p:spPr>
          <a:xfrm>
            <a:off x="1449660" y="1362367"/>
            <a:ext cx="9819110" cy="4626175"/>
          </a:xfrm>
          <a:prstGeom prst="rect">
            <a:avLst/>
          </a:prstGeom>
        </p:spPr>
      </p:pic>
    </p:spTree>
    <p:extLst>
      <p:ext uri="{BB962C8B-B14F-4D97-AF65-F5344CB8AC3E}">
        <p14:creationId xmlns:p14="http://schemas.microsoft.com/office/powerpoint/2010/main" val="24687275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57F620-C962-6D51-AB00-D7C0D0C186C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0C5A6968-93CE-0D9B-4A24-E18BDED66F3C}"/>
              </a:ext>
            </a:extLst>
          </p:cNvPr>
          <p:cNvSpPr>
            <a:spLocks noGrp="1"/>
          </p:cNvSpPr>
          <p:nvPr>
            <p:ph type="title"/>
          </p:nvPr>
        </p:nvSpPr>
        <p:spPr/>
        <p:txBody>
          <a:bodyPr/>
          <a:lstStyle/>
          <a:p>
            <a:r>
              <a:rPr kumimoji="1" lang="en-US" altLang="ja-JP" dirty="0"/>
              <a:t>2.2 Python Supported AI OCR: Costs</a:t>
            </a:r>
            <a:endParaRPr kumimoji="1" lang="ja-JP" altLang="en-US" dirty="0"/>
          </a:p>
        </p:txBody>
      </p:sp>
      <p:pic>
        <p:nvPicPr>
          <p:cNvPr id="4" name="图片 3">
            <a:extLst>
              <a:ext uri="{FF2B5EF4-FFF2-40B4-BE49-F238E27FC236}">
                <a16:creationId xmlns:a16="http://schemas.microsoft.com/office/drawing/2014/main" id="{4F7D0BA5-C296-94D9-9981-DF5A909ED225}"/>
              </a:ext>
            </a:extLst>
          </p:cNvPr>
          <p:cNvPicPr>
            <a:picLocks noChangeAspect="1"/>
          </p:cNvPicPr>
          <p:nvPr/>
        </p:nvPicPr>
        <p:blipFill>
          <a:blip r:embed="rId2"/>
          <a:stretch>
            <a:fillRect/>
          </a:stretch>
        </p:blipFill>
        <p:spPr>
          <a:xfrm>
            <a:off x="838200" y="1468641"/>
            <a:ext cx="8149683" cy="4843283"/>
          </a:xfrm>
          <a:prstGeom prst="rect">
            <a:avLst/>
          </a:prstGeom>
        </p:spPr>
      </p:pic>
      <p:pic>
        <p:nvPicPr>
          <p:cNvPr id="5" name="图片 4">
            <a:extLst>
              <a:ext uri="{FF2B5EF4-FFF2-40B4-BE49-F238E27FC236}">
                <a16:creationId xmlns:a16="http://schemas.microsoft.com/office/drawing/2014/main" id="{940354DF-9161-F1A2-EB85-210B50C7F1E1}"/>
              </a:ext>
            </a:extLst>
          </p:cNvPr>
          <p:cNvPicPr>
            <a:picLocks noChangeAspect="1"/>
          </p:cNvPicPr>
          <p:nvPr/>
        </p:nvPicPr>
        <p:blipFill>
          <a:blip r:embed="rId3"/>
          <a:stretch>
            <a:fillRect/>
          </a:stretch>
        </p:blipFill>
        <p:spPr>
          <a:xfrm>
            <a:off x="4509663" y="1690688"/>
            <a:ext cx="7476040" cy="4757973"/>
          </a:xfrm>
          <a:prstGeom prst="rect">
            <a:avLst/>
          </a:prstGeom>
        </p:spPr>
      </p:pic>
    </p:spTree>
    <p:extLst>
      <p:ext uri="{BB962C8B-B14F-4D97-AF65-F5344CB8AC3E}">
        <p14:creationId xmlns:p14="http://schemas.microsoft.com/office/powerpoint/2010/main" val="16555087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8ABC12-A5A3-414B-7813-9E77EC0096EC}"/>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6DC08685-C622-BED0-55CA-A8FCC326B754}"/>
              </a:ext>
            </a:extLst>
          </p:cNvPr>
          <p:cNvSpPr>
            <a:spLocks noGrp="1"/>
          </p:cNvSpPr>
          <p:nvPr>
            <p:ph type="title"/>
          </p:nvPr>
        </p:nvSpPr>
        <p:spPr/>
        <p:txBody>
          <a:bodyPr/>
          <a:lstStyle/>
          <a:p>
            <a:r>
              <a:rPr kumimoji="1" lang="en-US" altLang="ja-JP" dirty="0"/>
              <a:t>2.3 Printed text OCR without text layer </a:t>
            </a:r>
            <a:br>
              <a:rPr kumimoji="1" lang="en-US" altLang="ja-JP" dirty="0"/>
            </a:br>
            <a:r>
              <a:rPr kumimoji="1" lang="en-US" altLang="ja-JP" dirty="0"/>
              <a:t>(File Type 2)</a:t>
            </a:r>
            <a:endParaRPr kumimoji="1" lang="ja-JP" altLang="en-US" dirty="0"/>
          </a:p>
        </p:txBody>
      </p:sp>
      <p:sp>
        <p:nvSpPr>
          <p:cNvPr id="3" name="内容占位符 2">
            <a:extLst>
              <a:ext uri="{FF2B5EF4-FFF2-40B4-BE49-F238E27FC236}">
                <a16:creationId xmlns:a16="http://schemas.microsoft.com/office/drawing/2014/main" id="{4F122C8C-89E5-4D2B-43FB-454A6B82A1ED}"/>
              </a:ext>
            </a:extLst>
          </p:cNvPr>
          <p:cNvSpPr>
            <a:spLocks noGrp="1"/>
          </p:cNvSpPr>
          <p:nvPr>
            <p:ph idx="1"/>
          </p:nvPr>
        </p:nvSpPr>
        <p:spPr/>
        <p:txBody>
          <a:bodyPr>
            <a:normAutofit/>
          </a:bodyPr>
          <a:lstStyle/>
          <a:p>
            <a:r>
              <a:rPr lang="en-US" altLang="ja-JP" dirty="0"/>
              <a:t>Similar with Gemini API: Write a Python program and call Cloud Vision API.</a:t>
            </a:r>
          </a:p>
          <a:p>
            <a:r>
              <a:rPr lang="en-US" altLang="ja-JP" dirty="0">
                <a:solidFill>
                  <a:srgbClr val="FF0000"/>
                </a:solidFill>
              </a:rPr>
              <a:t>Cloud Vision API</a:t>
            </a:r>
            <a:r>
              <a:rPr lang="en-US" altLang="ja-JP" dirty="0"/>
              <a:t>: Trained with CNN (an AI method), good at HW recognition. But it does not have an intelligent “brain”, therefore it cannot understand the context.</a:t>
            </a:r>
          </a:p>
          <a:p>
            <a:r>
              <a:rPr lang="en-US" altLang="ja-JP" dirty="0"/>
              <a:t>Advantage: Very cheap and fast, Free limits every month, Gift card is usable.</a:t>
            </a:r>
          </a:p>
          <a:p>
            <a:endParaRPr lang="en-US" altLang="ja-JP" dirty="0"/>
          </a:p>
          <a:p>
            <a:endParaRPr lang="en-US" altLang="ja-JP" dirty="0"/>
          </a:p>
          <a:p>
            <a:endParaRPr lang="en-US" altLang="ja-JP" dirty="0"/>
          </a:p>
          <a:p>
            <a:endParaRPr kumimoji="1" lang="ja-JP" altLang="en-US" dirty="0"/>
          </a:p>
        </p:txBody>
      </p:sp>
    </p:spTree>
    <p:extLst>
      <p:ext uri="{BB962C8B-B14F-4D97-AF65-F5344CB8AC3E}">
        <p14:creationId xmlns:p14="http://schemas.microsoft.com/office/powerpoint/2010/main" val="27707879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5BC4DE-E917-6A70-A377-967AB9000EE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93BC1CD8-5A75-12EC-4C87-09F9EC5CD7FF}"/>
              </a:ext>
            </a:extLst>
          </p:cNvPr>
          <p:cNvSpPr>
            <a:spLocks noGrp="1"/>
          </p:cNvSpPr>
          <p:nvPr>
            <p:ph type="title"/>
          </p:nvPr>
        </p:nvSpPr>
        <p:spPr/>
        <p:txBody>
          <a:bodyPr/>
          <a:lstStyle/>
          <a:p>
            <a:r>
              <a:rPr kumimoji="1" lang="en-US" altLang="ja-JP" dirty="0"/>
              <a:t>2.4</a:t>
            </a:r>
            <a:r>
              <a:rPr lang="en-US" altLang="ja-JP" dirty="0"/>
              <a:t> Printed text with a text layer </a:t>
            </a:r>
            <a:br>
              <a:rPr kumimoji="1" lang="en-US" altLang="ja-JP" dirty="0"/>
            </a:br>
            <a:r>
              <a:rPr kumimoji="1" lang="en-US" altLang="ja-JP" dirty="0"/>
              <a:t>(File Type 1)</a:t>
            </a:r>
            <a:endParaRPr kumimoji="1" lang="ja-JP" altLang="en-US" dirty="0"/>
          </a:p>
        </p:txBody>
      </p:sp>
      <p:sp>
        <p:nvSpPr>
          <p:cNvPr id="3" name="内容占位符 2">
            <a:extLst>
              <a:ext uri="{FF2B5EF4-FFF2-40B4-BE49-F238E27FC236}">
                <a16:creationId xmlns:a16="http://schemas.microsoft.com/office/drawing/2014/main" id="{3EDE2D13-13FD-8CD5-9155-D93C2092F938}"/>
              </a:ext>
            </a:extLst>
          </p:cNvPr>
          <p:cNvSpPr>
            <a:spLocks noGrp="1"/>
          </p:cNvSpPr>
          <p:nvPr>
            <p:ph idx="1"/>
          </p:nvPr>
        </p:nvSpPr>
        <p:spPr/>
        <p:txBody>
          <a:bodyPr>
            <a:normAutofit/>
          </a:bodyPr>
          <a:lstStyle/>
          <a:p>
            <a:r>
              <a:rPr lang="en-US" altLang="ja-JP" dirty="0"/>
              <a:t>The fastest and easiest process. Totally free.</a:t>
            </a:r>
          </a:p>
          <a:p>
            <a:r>
              <a:rPr lang="en-US" altLang="ja-JP" dirty="0"/>
              <a:t>With Python (</a:t>
            </a:r>
            <a:r>
              <a:rPr lang="en-US" altLang="ja-JP" dirty="0" err="1"/>
              <a:t>pdftotext</a:t>
            </a:r>
            <a:r>
              <a:rPr lang="en-US" altLang="ja-JP" dirty="0"/>
              <a:t>) program only, from PDF to TXT.</a:t>
            </a:r>
          </a:p>
          <a:p>
            <a:r>
              <a:rPr lang="en-US" altLang="ja-JP" dirty="0"/>
              <a:t>Accuracy Rate 100%</a:t>
            </a:r>
          </a:p>
          <a:p>
            <a:endParaRPr lang="en-US" altLang="ja-JP" dirty="0"/>
          </a:p>
          <a:p>
            <a:endParaRPr lang="en-US" altLang="ja-JP" dirty="0"/>
          </a:p>
          <a:p>
            <a:endParaRPr kumimoji="1" lang="ja-JP" altLang="en-US" dirty="0"/>
          </a:p>
        </p:txBody>
      </p:sp>
    </p:spTree>
    <p:extLst>
      <p:ext uri="{BB962C8B-B14F-4D97-AF65-F5344CB8AC3E}">
        <p14:creationId xmlns:p14="http://schemas.microsoft.com/office/powerpoint/2010/main" val="9960919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F7915C-5765-C8CA-9F60-EFE1DC4CF73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C3D1D72-203B-040E-3E64-32F643BDB04F}"/>
              </a:ext>
            </a:extLst>
          </p:cNvPr>
          <p:cNvSpPr>
            <a:spLocks noGrp="1"/>
          </p:cNvSpPr>
          <p:nvPr>
            <p:ph type="ctrTitle"/>
          </p:nvPr>
        </p:nvSpPr>
        <p:spPr>
          <a:xfrm>
            <a:off x="1524000" y="2863482"/>
            <a:ext cx="9144000" cy="1131036"/>
          </a:xfrm>
        </p:spPr>
        <p:txBody>
          <a:bodyPr/>
          <a:lstStyle/>
          <a:p>
            <a:pPr algn="l"/>
            <a:r>
              <a:rPr lang="en-US" altLang="ja-JP" dirty="0"/>
              <a:t>3</a:t>
            </a:r>
            <a:r>
              <a:rPr kumimoji="1" lang="en-US" altLang="ja-JP" dirty="0"/>
              <a:t>. Text Denoising</a:t>
            </a:r>
            <a:endParaRPr kumimoji="1" lang="ja-JP" altLang="en-US" dirty="0"/>
          </a:p>
        </p:txBody>
      </p:sp>
    </p:spTree>
    <p:extLst>
      <p:ext uri="{BB962C8B-B14F-4D97-AF65-F5344CB8AC3E}">
        <p14:creationId xmlns:p14="http://schemas.microsoft.com/office/powerpoint/2010/main" val="4118484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02B201-6AFB-7B54-E6D9-430822111AE7}"/>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8C3A7298-36BC-E5DA-A041-D069E2109FA7}"/>
              </a:ext>
            </a:extLst>
          </p:cNvPr>
          <p:cNvSpPr>
            <a:spLocks noGrp="1"/>
          </p:cNvSpPr>
          <p:nvPr>
            <p:ph type="title"/>
          </p:nvPr>
        </p:nvSpPr>
        <p:spPr/>
        <p:txBody>
          <a:bodyPr/>
          <a:lstStyle/>
          <a:p>
            <a:r>
              <a:rPr kumimoji="1" lang="en-US" altLang="ja-JP" dirty="0"/>
              <a:t>3.1 What files do we have at this point? </a:t>
            </a:r>
            <a:endParaRPr kumimoji="1" lang="ja-JP" altLang="en-US" dirty="0"/>
          </a:p>
        </p:txBody>
      </p:sp>
      <p:sp>
        <p:nvSpPr>
          <p:cNvPr id="3" name="内容占位符 2">
            <a:extLst>
              <a:ext uri="{FF2B5EF4-FFF2-40B4-BE49-F238E27FC236}">
                <a16:creationId xmlns:a16="http://schemas.microsoft.com/office/drawing/2014/main" id="{8EA1B1B9-B26A-966D-88A7-7929BBD72A7B}"/>
              </a:ext>
            </a:extLst>
          </p:cNvPr>
          <p:cNvSpPr>
            <a:spLocks noGrp="1"/>
          </p:cNvSpPr>
          <p:nvPr>
            <p:ph idx="1"/>
          </p:nvPr>
        </p:nvSpPr>
        <p:spPr>
          <a:xfrm>
            <a:off x="838199" y="1825625"/>
            <a:ext cx="11123341" cy="4351338"/>
          </a:xfrm>
        </p:spPr>
        <p:txBody>
          <a:bodyPr>
            <a:normAutofit/>
          </a:bodyPr>
          <a:lstStyle/>
          <a:p>
            <a:r>
              <a:rPr lang="en-US" altLang="ja-JP" dirty="0"/>
              <a:t>(1)	Printed text with a text layer – Changed into TXT by Python</a:t>
            </a:r>
          </a:p>
          <a:p>
            <a:r>
              <a:rPr lang="en-US" altLang="ja-JP" dirty="0"/>
              <a:t>(2)	Printed text without a text layer – Changed into TXT by Cloud Vision API</a:t>
            </a:r>
          </a:p>
          <a:p>
            <a:r>
              <a:rPr lang="en-US" altLang="ja-JP" dirty="0"/>
              <a:t>(3)	Handwritten text or mixed text without a text layer – Changed into TXT by Gemini API</a:t>
            </a:r>
          </a:p>
          <a:p>
            <a:r>
              <a:rPr lang="en-US" altLang="ja-JP" dirty="0"/>
              <a:t>Therefore, we get only one new type:</a:t>
            </a:r>
          </a:p>
          <a:p>
            <a:pPr lvl="1"/>
            <a:r>
              <a:rPr lang="en-US" altLang="ja-JP" dirty="0"/>
              <a:t>1.	TXT files (with noise)</a:t>
            </a:r>
          </a:p>
          <a:p>
            <a:r>
              <a:rPr kumimoji="1" lang="en-US" altLang="ja-JP" dirty="0"/>
              <a:t>Next Step: </a:t>
            </a:r>
          </a:p>
          <a:p>
            <a:pPr lvl="1"/>
            <a:r>
              <a:rPr lang="en-US" altLang="ja-JP" dirty="0"/>
              <a:t>Text Denoise.</a:t>
            </a:r>
            <a:endParaRPr kumimoji="1" lang="ja-JP" altLang="en-US" dirty="0"/>
          </a:p>
        </p:txBody>
      </p:sp>
    </p:spTree>
    <p:extLst>
      <p:ext uri="{BB962C8B-B14F-4D97-AF65-F5344CB8AC3E}">
        <p14:creationId xmlns:p14="http://schemas.microsoft.com/office/powerpoint/2010/main" val="8929703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81E76D-1549-3C77-8828-017DEEF27F5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E6079982-1BB9-612A-DD29-CB0E7DB937E6}"/>
              </a:ext>
            </a:extLst>
          </p:cNvPr>
          <p:cNvSpPr>
            <a:spLocks noGrp="1"/>
          </p:cNvSpPr>
          <p:nvPr>
            <p:ph type="title"/>
          </p:nvPr>
        </p:nvSpPr>
        <p:spPr/>
        <p:txBody>
          <a:bodyPr/>
          <a:lstStyle/>
          <a:p>
            <a:r>
              <a:rPr kumimoji="1" lang="en-US" altLang="ja-JP" dirty="0"/>
              <a:t>3.2 What is Text Noise?</a:t>
            </a:r>
            <a:endParaRPr kumimoji="1" lang="ja-JP" altLang="en-US" dirty="0"/>
          </a:p>
        </p:txBody>
      </p:sp>
      <p:sp>
        <p:nvSpPr>
          <p:cNvPr id="3" name="内容占位符 2">
            <a:extLst>
              <a:ext uri="{FF2B5EF4-FFF2-40B4-BE49-F238E27FC236}">
                <a16:creationId xmlns:a16="http://schemas.microsoft.com/office/drawing/2014/main" id="{362D1C7F-8C2D-7BCE-8A7C-0E686345F3D1}"/>
              </a:ext>
            </a:extLst>
          </p:cNvPr>
          <p:cNvSpPr>
            <a:spLocks noGrp="1"/>
          </p:cNvSpPr>
          <p:nvPr>
            <p:ph idx="1"/>
          </p:nvPr>
        </p:nvSpPr>
        <p:spPr>
          <a:xfrm>
            <a:off x="838200" y="1825625"/>
            <a:ext cx="10952356" cy="4351338"/>
          </a:xfrm>
        </p:spPr>
        <p:txBody>
          <a:bodyPr>
            <a:normAutofit/>
          </a:bodyPr>
          <a:lstStyle/>
          <a:p>
            <a:r>
              <a:rPr lang="en-US" altLang="ja-JP" dirty="0"/>
              <a:t>1.	Line Break: A whole sentence could be disrupted.</a:t>
            </a:r>
          </a:p>
          <a:p>
            <a:r>
              <a:rPr lang="en-US" altLang="ja-JP" dirty="0"/>
              <a:t>2.	Page Number: (1) May appear in a sentence when copy, (2) and may influence word frequency statistic with fixed words “page number”</a:t>
            </a:r>
          </a:p>
          <a:p>
            <a:r>
              <a:rPr lang="en-US" altLang="ja-JP" dirty="0"/>
              <a:t>3.	Duplicate title: May influence word frequency </a:t>
            </a:r>
          </a:p>
          <a:p>
            <a:endParaRPr lang="en-US" altLang="ja-JP" dirty="0"/>
          </a:p>
          <a:p>
            <a:endParaRPr lang="en-US" altLang="ja-JP" dirty="0"/>
          </a:p>
          <a:p>
            <a:endParaRPr kumimoji="1" lang="ja-JP" altLang="en-US" dirty="0"/>
          </a:p>
        </p:txBody>
      </p:sp>
      <p:pic>
        <p:nvPicPr>
          <p:cNvPr id="5" name="图片 4">
            <a:extLst>
              <a:ext uri="{FF2B5EF4-FFF2-40B4-BE49-F238E27FC236}">
                <a16:creationId xmlns:a16="http://schemas.microsoft.com/office/drawing/2014/main" id="{A72BEB39-1226-1F78-EDCC-A95BC84FD10E}"/>
              </a:ext>
            </a:extLst>
          </p:cNvPr>
          <p:cNvPicPr>
            <a:picLocks noChangeAspect="1"/>
          </p:cNvPicPr>
          <p:nvPr/>
        </p:nvPicPr>
        <p:blipFill>
          <a:blip r:embed="rId3"/>
          <a:stretch>
            <a:fillRect/>
          </a:stretch>
        </p:blipFill>
        <p:spPr>
          <a:xfrm>
            <a:off x="1170719" y="1209144"/>
            <a:ext cx="3981008" cy="5522475"/>
          </a:xfrm>
          <a:prstGeom prst="rect">
            <a:avLst/>
          </a:prstGeom>
        </p:spPr>
      </p:pic>
      <p:pic>
        <p:nvPicPr>
          <p:cNvPr id="7" name="图片 6">
            <a:extLst>
              <a:ext uri="{FF2B5EF4-FFF2-40B4-BE49-F238E27FC236}">
                <a16:creationId xmlns:a16="http://schemas.microsoft.com/office/drawing/2014/main" id="{607103E6-97AA-7D32-EE49-D7B9464D8294}"/>
              </a:ext>
            </a:extLst>
          </p:cNvPr>
          <p:cNvPicPr>
            <a:picLocks noChangeAspect="1"/>
          </p:cNvPicPr>
          <p:nvPr/>
        </p:nvPicPr>
        <p:blipFill>
          <a:blip r:embed="rId4"/>
          <a:stretch>
            <a:fillRect/>
          </a:stretch>
        </p:blipFill>
        <p:spPr>
          <a:xfrm>
            <a:off x="5588483" y="1209144"/>
            <a:ext cx="5765317" cy="5522475"/>
          </a:xfrm>
          <a:prstGeom prst="rect">
            <a:avLst/>
          </a:prstGeom>
        </p:spPr>
      </p:pic>
    </p:spTree>
    <p:extLst>
      <p:ext uri="{BB962C8B-B14F-4D97-AF65-F5344CB8AC3E}">
        <p14:creationId xmlns:p14="http://schemas.microsoft.com/office/powerpoint/2010/main" val="36437299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D100C7-6F53-4BD0-EC00-644FABF15B29}"/>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24A5A49B-EED0-DBA7-8C3C-3EA27A366A17}"/>
              </a:ext>
            </a:extLst>
          </p:cNvPr>
          <p:cNvSpPr>
            <a:spLocks noGrp="1"/>
          </p:cNvSpPr>
          <p:nvPr>
            <p:ph type="title"/>
          </p:nvPr>
        </p:nvSpPr>
        <p:spPr/>
        <p:txBody>
          <a:bodyPr/>
          <a:lstStyle/>
          <a:p>
            <a:r>
              <a:rPr kumimoji="1" lang="en-US" altLang="ja-JP" dirty="0"/>
              <a:t>3.3 How to Denoise?</a:t>
            </a:r>
            <a:endParaRPr kumimoji="1" lang="ja-JP" altLang="en-US" dirty="0"/>
          </a:p>
        </p:txBody>
      </p:sp>
      <p:sp>
        <p:nvSpPr>
          <p:cNvPr id="3" name="内容占位符 2">
            <a:extLst>
              <a:ext uri="{FF2B5EF4-FFF2-40B4-BE49-F238E27FC236}">
                <a16:creationId xmlns:a16="http://schemas.microsoft.com/office/drawing/2014/main" id="{703DAEF4-7475-DF25-2191-2BB6895C9C5A}"/>
              </a:ext>
            </a:extLst>
          </p:cNvPr>
          <p:cNvSpPr>
            <a:spLocks noGrp="1"/>
          </p:cNvSpPr>
          <p:nvPr>
            <p:ph idx="1"/>
          </p:nvPr>
        </p:nvSpPr>
        <p:spPr>
          <a:xfrm>
            <a:off x="838200" y="1342406"/>
            <a:ext cx="11123341" cy="4351338"/>
          </a:xfrm>
        </p:spPr>
        <p:txBody>
          <a:bodyPr>
            <a:normAutofit/>
          </a:bodyPr>
          <a:lstStyle/>
          <a:p>
            <a:r>
              <a:rPr kumimoji="1" lang="en-US" altLang="ja-JP" dirty="0"/>
              <a:t>Python Only, Totally Free, No AI, API and Credit </a:t>
            </a:r>
            <a:r>
              <a:rPr lang="en-US" altLang="ja-JP" dirty="0"/>
              <a:t>Card needed.</a:t>
            </a:r>
          </a:p>
          <a:p>
            <a:endParaRPr kumimoji="1" lang="ja-JP" altLang="en-US" dirty="0"/>
          </a:p>
        </p:txBody>
      </p:sp>
      <p:pic>
        <p:nvPicPr>
          <p:cNvPr id="5" name="图片 4">
            <a:extLst>
              <a:ext uri="{FF2B5EF4-FFF2-40B4-BE49-F238E27FC236}">
                <a16:creationId xmlns:a16="http://schemas.microsoft.com/office/drawing/2014/main" id="{2D0E10E9-54A7-E1AD-22A8-6DE0C2CF50B9}"/>
              </a:ext>
            </a:extLst>
          </p:cNvPr>
          <p:cNvPicPr>
            <a:picLocks noChangeAspect="1"/>
          </p:cNvPicPr>
          <p:nvPr/>
        </p:nvPicPr>
        <p:blipFill>
          <a:blip r:embed="rId2"/>
          <a:stretch>
            <a:fillRect/>
          </a:stretch>
        </p:blipFill>
        <p:spPr>
          <a:xfrm>
            <a:off x="0" y="1870023"/>
            <a:ext cx="7228589" cy="4474473"/>
          </a:xfrm>
          <a:prstGeom prst="rect">
            <a:avLst/>
          </a:prstGeom>
        </p:spPr>
      </p:pic>
      <p:graphicFrame>
        <p:nvGraphicFramePr>
          <p:cNvPr id="6" name="表格 5">
            <a:extLst>
              <a:ext uri="{FF2B5EF4-FFF2-40B4-BE49-F238E27FC236}">
                <a16:creationId xmlns:a16="http://schemas.microsoft.com/office/drawing/2014/main" id="{AE3B6D7B-DA59-296F-02C8-B3D97BB48665}"/>
              </a:ext>
            </a:extLst>
          </p:cNvPr>
          <p:cNvGraphicFramePr>
            <a:graphicFrameLocks noGrp="1"/>
          </p:cNvGraphicFramePr>
          <p:nvPr>
            <p:extLst>
              <p:ext uri="{D42A27DB-BD31-4B8C-83A1-F6EECF244321}">
                <p14:modId xmlns:p14="http://schemas.microsoft.com/office/powerpoint/2010/main" val="510906725"/>
              </p:ext>
            </p:extLst>
          </p:nvPr>
        </p:nvGraphicFramePr>
        <p:xfrm>
          <a:off x="6158267" y="1870022"/>
          <a:ext cx="5372096" cy="4987979"/>
        </p:xfrm>
        <a:graphic>
          <a:graphicData uri="http://schemas.openxmlformats.org/drawingml/2006/table">
            <a:tbl>
              <a:tblPr/>
              <a:tblGrid>
                <a:gridCol w="1343024">
                  <a:extLst>
                    <a:ext uri="{9D8B030D-6E8A-4147-A177-3AD203B41FA5}">
                      <a16:colId xmlns:a16="http://schemas.microsoft.com/office/drawing/2014/main" val="3202491377"/>
                    </a:ext>
                  </a:extLst>
                </a:gridCol>
                <a:gridCol w="1343024">
                  <a:extLst>
                    <a:ext uri="{9D8B030D-6E8A-4147-A177-3AD203B41FA5}">
                      <a16:colId xmlns:a16="http://schemas.microsoft.com/office/drawing/2014/main" val="774415016"/>
                    </a:ext>
                  </a:extLst>
                </a:gridCol>
                <a:gridCol w="1343024">
                  <a:extLst>
                    <a:ext uri="{9D8B030D-6E8A-4147-A177-3AD203B41FA5}">
                      <a16:colId xmlns:a16="http://schemas.microsoft.com/office/drawing/2014/main" val="3354722390"/>
                    </a:ext>
                  </a:extLst>
                </a:gridCol>
                <a:gridCol w="1343024">
                  <a:extLst>
                    <a:ext uri="{9D8B030D-6E8A-4147-A177-3AD203B41FA5}">
                      <a16:colId xmlns:a16="http://schemas.microsoft.com/office/drawing/2014/main" val="160865084"/>
                    </a:ext>
                  </a:extLst>
                </a:gridCol>
              </a:tblGrid>
              <a:tr h="273099">
                <a:tc>
                  <a:txBody>
                    <a:bodyPr/>
                    <a:lstStyle/>
                    <a:p>
                      <a:pPr>
                        <a:buNone/>
                      </a:pPr>
                      <a:r>
                        <a:rPr lang="ja-JP" altLang="en-US" sz="700"/>
                        <a:t>処理対象</a:t>
                      </a:r>
                    </a:p>
                  </a:txBody>
                  <a:tcPr marL="35377" marR="35377" marT="17688" marB="17688" anchor="ctr">
                    <a:lnL>
                      <a:noFill/>
                    </a:lnL>
                    <a:lnR>
                      <a:noFill/>
                    </a:lnR>
                    <a:lnT>
                      <a:noFill/>
                    </a:lnT>
                    <a:lnB>
                      <a:noFill/>
                    </a:lnB>
                    <a:noFill/>
                  </a:tcPr>
                </a:tc>
                <a:tc>
                  <a:txBody>
                    <a:bodyPr/>
                    <a:lstStyle/>
                    <a:p>
                      <a:pPr>
                        <a:buNone/>
                      </a:pPr>
                      <a:r>
                        <a:rPr lang="ja-JP" altLang="en-US" sz="700"/>
                        <a:t>対象コード </a:t>
                      </a:r>
                      <a:r>
                        <a:rPr lang="en-US" altLang="ja-JP" sz="700"/>
                        <a:t>/ </a:t>
                      </a:r>
                      <a:r>
                        <a:rPr lang="ja-JP" altLang="en-US" sz="700"/>
                        <a:t>正規表現</a:t>
                      </a:r>
                    </a:p>
                  </a:txBody>
                  <a:tcPr marL="35377" marR="35377" marT="17688" marB="17688" anchor="ctr">
                    <a:lnL>
                      <a:noFill/>
                    </a:lnL>
                    <a:lnR>
                      <a:noFill/>
                    </a:lnR>
                    <a:lnT>
                      <a:noFill/>
                    </a:lnT>
                    <a:lnB>
                      <a:noFill/>
                    </a:lnB>
                    <a:noFill/>
                  </a:tcPr>
                </a:tc>
                <a:tc>
                  <a:txBody>
                    <a:bodyPr/>
                    <a:lstStyle/>
                    <a:p>
                      <a:pPr>
                        <a:buNone/>
                      </a:pPr>
                      <a:r>
                        <a:rPr lang="ja-JP" altLang="en-US" sz="700"/>
                        <a:t>除外されるノイズの具体例</a:t>
                      </a:r>
                    </a:p>
                  </a:txBody>
                  <a:tcPr marL="35377" marR="35377" marT="17688" marB="17688" anchor="ctr">
                    <a:lnL>
                      <a:noFill/>
                    </a:lnL>
                    <a:lnR>
                      <a:noFill/>
                    </a:lnR>
                    <a:lnT>
                      <a:noFill/>
                    </a:lnT>
                    <a:lnB>
                      <a:noFill/>
                    </a:lnB>
                    <a:noFill/>
                  </a:tcPr>
                </a:tc>
                <a:tc>
                  <a:txBody>
                    <a:bodyPr/>
                    <a:lstStyle/>
                    <a:p>
                      <a:pPr>
                        <a:buNone/>
                      </a:pPr>
                      <a:r>
                        <a:rPr lang="ja-JP" altLang="en-US" sz="700"/>
                        <a:t>処理の仕組みと目的</a:t>
                      </a:r>
                    </a:p>
                  </a:txBody>
                  <a:tcPr marL="35377" marR="35377" marT="17688" marB="17688" anchor="ctr">
                    <a:lnL>
                      <a:noFill/>
                    </a:lnL>
                    <a:lnR>
                      <a:noFill/>
                    </a:lnR>
                    <a:lnT>
                      <a:noFill/>
                    </a:lnT>
                    <a:lnB>
                      <a:noFill/>
                    </a:lnB>
                    <a:noFill/>
                  </a:tcPr>
                </a:tc>
                <a:extLst>
                  <a:ext uri="{0D108BD9-81ED-4DB2-BD59-A6C34878D82A}">
                    <a16:rowId xmlns:a16="http://schemas.microsoft.com/office/drawing/2014/main" val="2121862896"/>
                  </a:ext>
                </a:extLst>
              </a:tr>
              <a:tr h="975874">
                <a:tc>
                  <a:txBody>
                    <a:bodyPr/>
                    <a:lstStyle/>
                    <a:p>
                      <a:pPr>
                        <a:buNone/>
                      </a:pPr>
                      <a:r>
                        <a:rPr lang="en-US" altLang="ja-JP" sz="700" b="1"/>
                        <a:t>1. </a:t>
                      </a:r>
                      <a:r>
                        <a:rPr lang="ja-JP" altLang="en-US" sz="700" b="1"/>
                        <a:t>空白行</a:t>
                      </a:r>
                      <a:endParaRPr lang="ja-JP" altLang="en-US" sz="700"/>
                    </a:p>
                  </a:txBody>
                  <a:tcPr marL="35377" marR="35377" marT="17688" marB="17688" anchor="ctr">
                    <a:lnL>
                      <a:noFill/>
                    </a:lnL>
                    <a:lnR>
                      <a:noFill/>
                    </a:lnR>
                    <a:lnT>
                      <a:noFill/>
                    </a:lnT>
                    <a:lnB>
                      <a:noFill/>
                    </a:lnB>
                    <a:noFill/>
                  </a:tcPr>
                </a:tc>
                <a:tc>
                  <a:txBody>
                    <a:bodyPr/>
                    <a:lstStyle/>
                    <a:p>
                      <a:pPr>
                        <a:buNone/>
                      </a:pPr>
                      <a:r>
                        <a:rPr lang="en-US" sz="700">
                          <a:latin typeface="Courier New" panose="02070309020205020404" pitchFamily="49" charset="0"/>
                        </a:rPr>
                        <a:t>if not line:</a:t>
                      </a:r>
                      <a:endParaRPr lang="en-US" sz="700"/>
                    </a:p>
                    <a:p>
                      <a:pPr>
                        <a:buNone/>
                      </a:pPr>
                      <a:br>
                        <a:rPr lang="en-US" sz="700"/>
                      </a:br>
                      <a:endParaRPr lang="en-US" sz="700"/>
                    </a:p>
                    <a:p>
                      <a:pPr>
                        <a:buNone/>
                      </a:pPr>
                      <a:r>
                        <a:rPr lang="en-US" sz="700" i="1"/>
                        <a:t>(※</a:t>
                      </a:r>
                      <a:r>
                        <a:rPr lang="ja-JP" altLang="en-US" sz="700" i="1"/>
                        <a:t>事前に </a:t>
                      </a:r>
                      <a:r>
                        <a:rPr lang="en-US" sz="700" i="1">
                          <a:latin typeface="Courier New" panose="02070309020205020404" pitchFamily="49" charset="0"/>
                        </a:rPr>
                        <a:t>strip()</a:t>
                      </a:r>
                      <a:r>
                        <a:rPr lang="en-US" sz="700" i="1"/>
                        <a:t> </a:t>
                      </a:r>
                      <a:r>
                        <a:rPr lang="ja-JP" altLang="en-US" sz="700" i="1"/>
                        <a:t>を実行</a:t>
                      </a:r>
                      <a:r>
                        <a:rPr lang="en-US" altLang="ja-JP" sz="700" i="1"/>
                        <a:t>)</a:t>
                      </a:r>
                      <a:endParaRPr lang="ja-JP" altLang="en-US" sz="700"/>
                    </a:p>
                  </a:txBody>
                  <a:tcPr marL="35377" marR="35377" marT="17688" marB="17688" anchor="ctr">
                    <a:lnL>
                      <a:noFill/>
                    </a:lnL>
                    <a:lnR>
                      <a:noFill/>
                    </a:lnR>
                    <a:lnT>
                      <a:noFill/>
                    </a:lnT>
                    <a:lnB>
                      <a:noFill/>
                    </a:lnB>
                    <a:noFill/>
                  </a:tcPr>
                </a:tc>
                <a:tc>
                  <a:txBody>
                    <a:bodyPr/>
                    <a:lstStyle/>
                    <a:p>
                      <a:pPr>
                        <a:buNone/>
                      </a:pPr>
                      <a:r>
                        <a:rPr lang="ja-JP" altLang="en-US" sz="700"/>
                        <a:t>・純粋な空行</a:t>
                      </a:r>
                    </a:p>
                    <a:p>
                      <a:pPr>
                        <a:buNone/>
                      </a:pPr>
                      <a:br>
                        <a:rPr lang="ja-JP" altLang="en-US" sz="700"/>
                      </a:br>
                      <a:endParaRPr lang="ja-JP" altLang="en-US" sz="700"/>
                    </a:p>
                    <a:p>
                      <a:pPr>
                        <a:buNone/>
                      </a:pPr>
                      <a:r>
                        <a:rPr lang="ja-JP" altLang="en-US" sz="700"/>
                        <a:t>・スペースのみの行</a:t>
                      </a:r>
                    </a:p>
                    <a:p>
                      <a:pPr>
                        <a:buNone/>
                      </a:pPr>
                      <a:br>
                        <a:rPr lang="ja-JP" altLang="en-US" sz="700"/>
                      </a:br>
                      <a:endParaRPr lang="ja-JP" altLang="en-US" sz="700"/>
                    </a:p>
                    <a:p>
                      <a:pPr>
                        <a:buNone/>
                      </a:pPr>
                      <a:r>
                        <a:rPr lang="ja-JP" altLang="en-US" sz="700"/>
                        <a:t>・タブ</a:t>
                      </a:r>
                      <a:r>
                        <a:rPr lang="en-US" altLang="ja-JP" sz="700"/>
                        <a:t>(</a:t>
                      </a:r>
                      <a:r>
                        <a:rPr lang="en-US" altLang="ja-JP" sz="700">
                          <a:latin typeface="Courier New" panose="02070309020205020404" pitchFamily="49" charset="0"/>
                        </a:rPr>
                        <a:t>\t</a:t>
                      </a:r>
                      <a:r>
                        <a:rPr lang="en-US" altLang="ja-JP" sz="700"/>
                        <a:t>)</a:t>
                      </a:r>
                      <a:r>
                        <a:rPr lang="ja-JP" altLang="en-US" sz="700"/>
                        <a:t>や改行</a:t>
                      </a:r>
                      <a:r>
                        <a:rPr lang="en-US" altLang="ja-JP" sz="700"/>
                        <a:t>(</a:t>
                      </a:r>
                      <a:r>
                        <a:rPr lang="en-US" altLang="ja-JP" sz="700">
                          <a:latin typeface="Courier New" panose="02070309020205020404" pitchFamily="49" charset="0"/>
                        </a:rPr>
                        <a:t>\n</a:t>
                      </a:r>
                      <a:r>
                        <a:rPr lang="en-US" altLang="ja-JP" sz="700"/>
                        <a:t>)</a:t>
                      </a:r>
                      <a:r>
                        <a:rPr lang="ja-JP" altLang="en-US" sz="700"/>
                        <a:t>のみの行</a:t>
                      </a:r>
                    </a:p>
                  </a:txBody>
                  <a:tcPr marL="35377" marR="35377" marT="17688" marB="17688" anchor="ctr">
                    <a:lnL>
                      <a:noFill/>
                    </a:lnL>
                    <a:lnR>
                      <a:noFill/>
                    </a:lnR>
                    <a:lnT>
                      <a:noFill/>
                    </a:lnT>
                    <a:lnB>
                      <a:noFill/>
                    </a:lnB>
                    <a:noFill/>
                  </a:tcPr>
                </a:tc>
                <a:tc>
                  <a:txBody>
                    <a:bodyPr/>
                    <a:lstStyle/>
                    <a:p>
                      <a:pPr>
                        <a:buNone/>
                      </a:pPr>
                      <a:r>
                        <a:rPr lang="ja-JP" altLang="en-US" sz="700"/>
                        <a:t>意味を持たない空白をフィルタリングし、テキストのデータ構造を圧縮・最適化する。</a:t>
                      </a:r>
                    </a:p>
                  </a:txBody>
                  <a:tcPr marL="35377" marR="35377" marT="17688" marB="17688" anchor="ctr">
                    <a:lnL>
                      <a:noFill/>
                    </a:lnL>
                    <a:lnR>
                      <a:noFill/>
                    </a:lnR>
                    <a:lnT>
                      <a:noFill/>
                    </a:lnT>
                    <a:lnB>
                      <a:noFill/>
                    </a:lnB>
                    <a:noFill/>
                  </a:tcPr>
                </a:tc>
                <a:extLst>
                  <a:ext uri="{0D108BD9-81ED-4DB2-BD59-A6C34878D82A}">
                    <a16:rowId xmlns:a16="http://schemas.microsoft.com/office/drawing/2014/main" val="2792910276"/>
                  </a:ext>
                </a:extLst>
              </a:tr>
              <a:tr h="1045643">
                <a:tc>
                  <a:txBody>
                    <a:bodyPr/>
                    <a:lstStyle/>
                    <a:p>
                      <a:pPr>
                        <a:buNone/>
                      </a:pPr>
                      <a:r>
                        <a:rPr lang="en-US" altLang="ja-JP" sz="700" b="1"/>
                        <a:t>2. </a:t>
                      </a:r>
                      <a:r>
                        <a:rPr lang="ja-JP" altLang="en-US" sz="700" b="1"/>
                        <a:t>標準的なページ番号</a:t>
                      </a:r>
                      <a:endParaRPr lang="ja-JP" altLang="en-US" sz="700"/>
                    </a:p>
                  </a:txBody>
                  <a:tcPr marL="35377" marR="35377" marT="17688" marB="17688" anchor="ctr">
                    <a:lnL>
                      <a:noFill/>
                    </a:lnL>
                    <a:lnR>
                      <a:noFill/>
                    </a:lnR>
                    <a:lnT>
                      <a:noFill/>
                    </a:lnT>
                    <a:lnB>
                      <a:noFill/>
                    </a:lnB>
                    <a:noFill/>
                  </a:tcPr>
                </a:tc>
                <a:tc>
                  <a:txBody>
                    <a:bodyPr/>
                    <a:lstStyle/>
                    <a:p>
                      <a:pPr>
                        <a:buNone/>
                      </a:pPr>
                      <a:r>
                        <a:rPr lang="en-US" sz="700" dirty="0">
                          <a:latin typeface="Courier New" panose="02070309020205020404" pitchFamily="49" charset="0"/>
                        </a:rPr>
                        <a:t>r'^\d+[-—]\d+$'</a:t>
                      </a:r>
                      <a:endParaRPr lang="en-US" sz="700" dirty="0"/>
                    </a:p>
                  </a:txBody>
                  <a:tcPr marL="35377" marR="35377" marT="17688" marB="17688" anchor="ctr">
                    <a:lnL>
                      <a:noFill/>
                    </a:lnL>
                    <a:lnR>
                      <a:noFill/>
                    </a:lnR>
                    <a:lnT>
                      <a:noFill/>
                    </a:lnT>
                    <a:lnB>
                      <a:noFill/>
                    </a:lnB>
                    <a:noFill/>
                  </a:tcPr>
                </a:tc>
                <a:tc>
                  <a:txBody>
                    <a:bodyPr/>
                    <a:lstStyle/>
                    <a:p>
                      <a:pPr>
                        <a:buNone/>
                      </a:pPr>
                      <a:r>
                        <a:rPr lang="ja-JP" altLang="en-US" sz="700" dirty="0"/>
                        <a:t>・</a:t>
                      </a:r>
                      <a:r>
                        <a:rPr lang="en-US" altLang="ja-JP" sz="700" dirty="0">
                          <a:latin typeface="Courier New" panose="02070309020205020404" pitchFamily="49" charset="0"/>
                        </a:rPr>
                        <a:t>1-1</a:t>
                      </a:r>
                      <a:endParaRPr lang="ja-JP" altLang="en-US" sz="700" dirty="0"/>
                    </a:p>
                    <a:p>
                      <a:pPr>
                        <a:buNone/>
                      </a:pPr>
                      <a:br>
                        <a:rPr lang="ja-JP" altLang="en-US" sz="700" dirty="0"/>
                      </a:br>
                      <a:endParaRPr lang="ja-JP" altLang="en-US" sz="700" dirty="0"/>
                    </a:p>
                    <a:p>
                      <a:pPr>
                        <a:buNone/>
                      </a:pPr>
                      <a:r>
                        <a:rPr lang="ja-JP" altLang="en-US" sz="700" dirty="0"/>
                        <a:t>・</a:t>
                      </a:r>
                      <a:r>
                        <a:rPr lang="en-US" altLang="ja-JP" sz="700" dirty="0">
                          <a:latin typeface="Courier New" panose="02070309020205020404" pitchFamily="49" charset="0"/>
                        </a:rPr>
                        <a:t>5-12</a:t>
                      </a:r>
                      <a:endParaRPr lang="ja-JP" altLang="en-US" sz="700" dirty="0"/>
                    </a:p>
                    <a:p>
                      <a:pPr>
                        <a:buNone/>
                      </a:pPr>
                      <a:br>
                        <a:rPr lang="ja-JP" altLang="en-US" sz="700" dirty="0"/>
                      </a:br>
                      <a:endParaRPr lang="ja-JP" altLang="en-US" sz="700" dirty="0"/>
                    </a:p>
                    <a:p>
                      <a:pPr>
                        <a:buNone/>
                      </a:pPr>
                      <a:r>
                        <a:rPr lang="ja-JP" altLang="en-US" sz="700" dirty="0"/>
                        <a:t>・</a:t>
                      </a:r>
                      <a:r>
                        <a:rPr lang="en-US" altLang="ja-JP" sz="700" dirty="0">
                          <a:latin typeface="Courier New" panose="02070309020205020404" pitchFamily="49" charset="0"/>
                        </a:rPr>
                        <a:t>10—2</a:t>
                      </a:r>
                      <a:endParaRPr lang="ja-JP" altLang="en-US" sz="700" dirty="0"/>
                    </a:p>
                  </a:txBody>
                  <a:tcPr marL="35377" marR="35377" marT="17688" marB="17688" anchor="ctr">
                    <a:lnL>
                      <a:noFill/>
                    </a:lnL>
                    <a:lnR>
                      <a:noFill/>
                    </a:lnR>
                    <a:lnT>
                      <a:noFill/>
                    </a:lnT>
                    <a:lnB>
                      <a:noFill/>
                    </a:lnB>
                    <a:noFill/>
                  </a:tcPr>
                </a:tc>
                <a:tc>
                  <a:txBody>
                    <a:bodyPr/>
                    <a:lstStyle/>
                    <a:p>
                      <a:pPr>
                        <a:buNone/>
                      </a:pPr>
                      <a:r>
                        <a:rPr lang="ja-JP" altLang="en-US" sz="700"/>
                        <a:t>行頭が数字で始まり、中間にハイフン（またはダッシュ）が入り、行末が数字で終わる独立した行を正規表現でマッチングして除外する。</a:t>
                      </a:r>
                    </a:p>
                  </a:txBody>
                  <a:tcPr marL="35377" marR="35377" marT="17688" marB="17688" anchor="ctr">
                    <a:lnL>
                      <a:noFill/>
                    </a:lnL>
                    <a:lnR>
                      <a:noFill/>
                    </a:lnR>
                    <a:lnT>
                      <a:noFill/>
                    </a:lnT>
                    <a:lnB>
                      <a:noFill/>
                    </a:lnB>
                    <a:noFill/>
                  </a:tcPr>
                </a:tc>
                <a:extLst>
                  <a:ext uri="{0D108BD9-81ED-4DB2-BD59-A6C34878D82A}">
                    <a16:rowId xmlns:a16="http://schemas.microsoft.com/office/drawing/2014/main" val="1616680664"/>
                  </a:ext>
                </a:extLst>
              </a:tr>
              <a:tr h="975874">
                <a:tc>
                  <a:txBody>
                    <a:bodyPr/>
                    <a:lstStyle/>
                    <a:p>
                      <a:pPr>
                        <a:buNone/>
                      </a:pPr>
                      <a:r>
                        <a:rPr lang="en-US" altLang="ja-JP" sz="700" b="1"/>
                        <a:t>3. </a:t>
                      </a:r>
                      <a:r>
                        <a:rPr lang="ja-JP" altLang="en-US" sz="700" b="1"/>
                        <a:t>複合型のページ番号</a:t>
                      </a:r>
                      <a:endParaRPr lang="ja-JP" altLang="en-US" sz="700"/>
                    </a:p>
                  </a:txBody>
                  <a:tcPr marL="35377" marR="35377" marT="17688" marB="17688" anchor="ctr">
                    <a:lnL>
                      <a:noFill/>
                    </a:lnL>
                    <a:lnR>
                      <a:noFill/>
                    </a:lnR>
                    <a:lnT>
                      <a:noFill/>
                    </a:lnT>
                    <a:lnB>
                      <a:noFill/>
                    </a:lnB>
                    <a:noFill/>
                  </a:tcPr>
                </a:tc>
                <a:tc>
                  <a:txBody>
                    <a:bodyPr/>
                    <a:lstStyle/>
                    <a:p>
                      <a:pPr>
                        <a:buNone/>
                      </a:pPr>
                      <a:r>
                        <a:rPr lang="en-US" sz="700">
                          <a:latin typeface="Courier New" panose="02070309020205020404" pitchFamily="49" charset="0"/>
                        </a:rPr>
                        <a:t>r'^\s*\d+\s*[</a:t>
                      </a:r>
                      <a:r>
                        <a:rPr lang="ja-JP" altLang="en-US" sz="700">
                          <a:latin typeface="Courier New" panose="02070309020205020404" pitchFamily="49" charset="0"/>
                        </a:rPr>
                        <a:t>頁页</a:t>
                      </a:r>
                      <a:r>
                        <a:rPr lang="en-US" altLang="ja-JP" sz="700">
                          <a:latin typeface="Courier New" panose="02070309020205020404" pitchFamily="49" charset="0"/>
                        </a:rPr>
                        <a:t>]\</a:t>
                      </a:r>
                      <a:r>
                        <a:rPr lang="en-US" sz="700">
                          <a:latin typeface="Courier New" panose="02070309020205020404" pitchFamily="49" charset="0"/>
                        </a:rPr>
                        <a:t>s*</a:t>
                      </a:r>
                      <a:r>
                        <a:rPr lang="ja-JP" altLang="en-US" sz="700">
                          <a:latin typeface="Courier New" panose="02070309020205020404" pitchFamily="49" charset="0"/>
                        </a:rPr>
                        <a:t>共</a:t>
                      </a:r>
                      <a:r>
                        <a:rPr lang="en-US" altLang="ja-JP" sz="700">
                          <a:latin typeface="Courier New" panose="02070309020205020404" pitchFamily="49" charset="0"/>
                        </a:rPr>
                        <a:t>?\</a:t>
                      </a:r>
                      <a:r>
                        <a:rPr lang="en-US" sz="700">
                          <a:latin typeface="Courier New" panose="02070309020205020404" pitchFamily="49" charset="0"/>
                        </a:rPr>
                        <a:t>s*\d*\s*[</a:t>
                      </a:r>
                      <a:r>
                        <a:rPr lang="ja-JP" altLang="en-US" sz="700">
                          <a:latin typeface="Courier New" panose="02070309020205020404" pitchFamily="49" charset="0"/>
                        </a:rPr>
                        <a:t>頁页</a:t>
                      </a:r>
                      <a:r>
                        <a:rPr lang="en-US" altLang="ja-JP" sz="700">
                          <a:latin typeface="Courier New" panose="02070309020205020404" pitchFamily="49" charset="0"/>
                        </a:rPr>
                        <a:t>]?$'</a:t>
                      </a:r>
                      <a:endParaRPr lang="ja-JP" altLang="en-US" sz="700"/>
                    </a:p>
                  </a:txBody>
                  <a:tcPr marL="35377" marR="35377" marT="17688" marB="17688" anchor="ctr">
                    <a:lnL>
                      <a:noFill/>
                    </a:lnL>
                    <a:lnR>
                      <a:noFill/>
                    </a:lnR>
                    <a:lnT>
                      <a:noFill/>
                    </a:lnT>
                    <a:lnB>
                      <a:noFill/>
                    </a:lnB>
                    <a:noFill/>
                  </a:tcPr>
                </a:tc>
                <a:tc>
                  <a:txBody>
                    <a:bodyPr/>
                    <a:lstStyle/>
                    <a:p>
                      <a:pPr>
                        <a:buNone/>
                      </a:pPr>
                      <a:r>
                        <a:rPr lang="ja-JP" altLang="en-US" sz="700"/>
                        <a:t>・</a:t>
                      </a:r>
                      <a:r>
                        <a:rPr lang="en-US" altLang="ja-JP" sz="700">
                          <a:latin typeface="Courier New" panose="02070309020205020404" pitchFamily="49" charset="0"/>
                        </a:rPr>
                        <a:t>1</a:t>
                      </a:r>
                      <a:r>
                        <a:rPr lang="ja-JP" altLang="en-US" sz="700">
                          <a:latin typeface="Courier New" panose="02070309020205020404" pitchFamily="49" charset="0"/>
                        </a:rPr>
                        <a:t>頁</a:t>
                      </a:r>
                      <a:r>
                        <a:rPr lang="ja-JP" altLang="en-US" sz="700"/>
                        <a:t> </a:t>
                      </a:r>
                      <a:r>
                        <a:rPr lang="en-US" altLang="ja-JP" sz="700"/>
                        <a:t>/ </a:t>
                      </a:r>
                      <a:r>
                        <a:rPr lang="en-US" altLang="ja-JP" sz="700">
                          <a:latin typeface="Courier New" panose="02070309020205020404" pitchFamily="49" charset="0"/>
                        </a:rPr>
                        <a:t>1 </a:t>
                      </a:r>
                      <a:r>
                        <a:rPr lang="ja-JP" altLang="en-US" sz="700">
                          <a:latin typeface="Courier New" panose="02070309020205020404" pitchFamily="49" charset="0"/>
                        </a:rPr>
                        <a:t>页</a:t>
                      </a:r>
                      <a:endParaRPr lang="ja-JP" altLang="en-US" sz="700"/>
                    </a:p>
                    <a:p>
                      <a:pPr>
                        <a:buNone/>
                      </a:pPr>
                      <a:br>
                        <a:rPr lang="ja-JP" altLang="en-US" sz="700"/>
                      </a:br>
                      <a:endParaRPr lang="ja-JP" altLang="en-US" sz="700"/>
                    </a:p>
                    <a:p>
                      <a:pPr>
                        <a:buNone/>
                      </a:pPr>
                      <a:r>
                        <a:rPr lang="ja-JP" altLang="en-US" sz="700"/>
                        <a:t>・</a:t>
                      </a:r>
                      <a:r>
                        <a:rPr lang="ja-JP" altLang="en-US" sz="700">
                          <a:latin typeface="Courier New" panose="02070309020205020404" pitchFamily="49" charset="0"/>
                        </a:rPr>
                        <a:t>第</a:t>
                      </a:r>
                      <a:r>
                        <a:rPr lang="en-US" altLang="ja-JP" sz="700">
                          <a:latin typeface="Courier New" panose="02070309020205020404" pitchFamily="49" charset="0"/>
                        </a:rPr>
                        <a:t>1</a:t>
                      </a:r>
                      <a:r>
                        <a:rPr lang="ja-JP" altLang="en-US" sz="700">
                          <a:latin typeface="Courier New" panose="02070309020205020404" pitchFamily="49" charset="0"/>
                        </a:rPr>
                        <a:t>頁 共</a:t>
                      </a:r>
                      <a:r>
                        <a:rPr lang="en-US" altLang="ja-JP" sz="700">
                          <a:latin typeface="Courier New" panose="02070309020205020404" pitchFamily="49" charset="0"/>
                        </a:rPr>
                        <a:t>5</a:t>
                      </a:r>
                      <a:r>
                        <a:rPr lang="ja-JP" altLang="en-US" sz="700">
                          <a:latin typeface="Courier New" panose="02070309020205020404" pitchFamily="49" charset="0"/>
                        </a:rPr>
                        <a:t>頁</a:t>
                      </a:r>
                      <a:endParaRPr lang="ja-JP" altLang="en-US" sz="700"/>
                    </a:p>
                    <a:p>
                      <a:pPr>
                        <a:buNone/>
                      </a:pPr>
                      <a:br>
                        <a:rPr lang="ja-JP" altLang="en-US" sz="700"/>
                      </a:br>
                      <a:endParaRPr lang="ja-JP" altLang="en-US" sz="700"/>
                    </a:p>
                    <a:p>
                      <a:pPr>
                        <a:buNone/>
                      </a:pPr>
                      <a:r>
                        <a:rPr lang="ja-JP" altLang="en-US" sz="700"/>
                        <a:t>・</a:t>
                      </a:r>
                      <a:r>
                        <a:rPr lang="en-US" altLang="ja-JP" sz="700">
                          <a:latin typeface="Courier New" panose="02070309020205020404" pitchFamily="49" charset="0"/>
                        </a:rPr>
                        <a:t>2 </a:t>
                      </a:r>
                      <a:r>
                        <a:rPr lang="ja-JP" altLang="en-US" sz="700">
                          <a:latin typeface="Courier New" panose="02070309020205020404" pitchFamily="49" charset="0"/>
                        </a:rPr>
                        <a:t>共 </a:t>
                      </a:r>
                      <a:r>
                        <a:rPr lang="en-US" altLang="ja-JP" sz="700">
                          <a:latin typeface="Courier New" panose="02070309020205020404" pitchFamily="49" charset="0"/>
                        </a:rPr>
                        <a:t>10 </a:t>
                      </a:r>
                      <a:r>
                        <a:rPr lang="ja-JP" altLang="en-US" sz="700">
                          <a:latin typeface="Courier New" panose="02070309020205020404" pitchFamily="49" charset="0"/>
                        </a:rPr>
                        <a:t>页</a:t>
                      </a:r>
                      <a:endParaRPr lang="ja-JP" altLang="en-US" sz="700"/>
                    </a:p>
                  </a:txBody>
                  <a:tcPr marL="35377" marR="35377" marT="17688" marB="17688" anchor="ctr">
                    <a:lnL>
                      <a:noFill/>
                    </a:lnL>
                    <a:lnR>
                      <a:noFill/>
                    </a:lnR>
                    <a:lnT>
                      <a:noFill/>
                    </a:lnT>
                    <a:lnB>
                      <a:noFill/>
                    </a:lnB>
                    <a:noFill/>
                  </a:tcPr>
                </a:tc>
                <a:tc>
                  <a:txBody>
                    <a:bodyPr/>
                    <a:lstStyle/>
                    <a:p>
                      <a:pPr>
                        <a:buNone/>
                      </a:pPr>
                      <a:r>
                        <a:rPr lang="ja-JP" altLang="en-US" sz="700" dirty="0"/>
                        <a:t>簡体字「页」と繁体字「頁」に両対応。「共」の文字や総ページ数はオプション（任意）とし、前後の空白</a:t>
                      </a:r>
                      <a:r>
                        <a:rPr lang="en-US" altLang="ja-JP" sz="700" dirty="0"/>
                        <a:t>(</a:t>
                      </a:r>
                      <a:r>
                        <a:rPr lang="en-US" altLang="ja-JP" sz="700" dirty="0">
                          <a:latin typeface="Courier New" panose="02070309020205020404" pitchFamily="49" charset="0"/>
                        </a:rPr>
                        <a:t>\s*</a:t>
                      </a:r>
                      <a:r>
                        <a:rPr lang="en-US" altLang="ja-JP" sz="700" dirty="0"/>
                        <a:t>)</a:t>
                      </a:r>
                      <a:r>
                        <a:rPr lang="ja-JP" altLang="en-US" sz="700" dirty="0"/>
                        <a:t>も許容するフォールトトレランスの高い正規表現処理。</a:t>
                      </a:r>
                    </a:p>
                  </a:txBody>
                  <a:tcPr marL="35377" marR="35377" marT="17688" marB="17688" anchor="ctr">
                    <a:lnL>
                      <a:noFill/>
                    </a:lnL>
                    <a:lnR>
                      <a:noFill/>
                    </a:lnR>
                    <a:lnT>
                      <a:noFill/>
                    </a:lnT>
                    <a:lnB>
                      <a:noFill/>
                    </a:lnB>
                    <a:noFill/>
                  </a:tcPr>
                </a:tc>
                <a:extLst>
                  <a:ext uri="{0D108BD9-81ED-4DB2-BD59-A6C34878D82A}">
                    <a16:rowId xmlns:a16="http://schemas.microsoft.com/office/drawing/2014/main" val="384651691"/>
                  </a:ext>
                </a:extLst>
              </a:tr>
              <a:tr h="741615">
                <a:tc>
                  <a:txBody>
                    <a:bodyPr/>
                    <a:lstStyle/>
                    <a:p>
                      <a:pPr>
                        <a:buNone/>
                      </a:pPr>
                      <a:r>
                        <a:rPr lang="en-US" altLang="ja-JP" sz="700" b="1"/>
                        <a:t>4. </a:t>
                      </a:r>
                      <a:r>
                        <a:rPr lang="ja-JP" altLang="en-US" sz="700" b="1"/>
                        <a:t>独立したページ番号</a:t>
                      </a:r>
                      <a:endParaRPr lang="ja-JP" altLang="en-US" sz="700"/>
                    </a:p>
                  </a:txBody>
                  <a:tcPr marL="35377" marR="35377" marT="17688" marB="17688" anchor="ctr">
                    <a:lnL>
                      <a:noFill/>
                    </a:lnL>
                    <a:lnR>
                      <a:noFill/>
                    </a:lnR>
                    <a:lnT>
                      <a:noFill/>
                    </a:lnT>
                    <a:lnB>
                      <a:noFill/>
                    </a:lnB>
                    <a:noFill/>
                  </a:tcPr>
                </a:tc>
                <a:tc>
                  <a:txBody>
                    <a:bodyPr/>
                    <a:lstStyle/>
                    <a:p>
                      <a:pPr>
                        <a:buNone/>
                      </a:pPr>
                      <a:r>
                        <a:rPr lang="en-US" sz="700">
                          <a:latin typeface="Courier New" panose="02070309020205020404" pitchFamily="49" charset="0"/>
                        </a:rPr>
                        <a:t>r'^[-—]\s*\d+\s*[-—]$'</a:t>
                      </a:r>
                      <a:endParaRPr lang="en-US" sz="700"/>
                    </a:p>
                  </a:txBody>
                  <a:tcPr marL="35377" marR="35377" marT="17688" marB="17688" anchor="ctr">
                    <a:lnL>
                      <a:noFill/>
                    </a:lnL>
                    <a:lnR>
                      <a:noFill/>
                    </a:lnR>
                    <a:lnT>
                      <a:noFill/>
                    </a:lnT>
                    <a:lnB>
                      <a:noFill/>
                    </a:lnB>
                    <a:noFill/>
                  </a:tcPr>
                </a:tc>
                <a:tc>
                  <a:txBody>
                    <a:bodyPr/>
                    <a:lstStyle/>
                    <a:p>
                      <a:pPr>
                        <a:buNone/>
                      </a:pPr>
                      <a:r>
                        <a:rPr lang="ja-JP" altLang="en-US" sz="700"/>
                        <a:t>・</a:t>
                      </a:r>
                      <a:r>
                        <a:rPr lang="en-US" altLang="ja-JP" sz="700">
                          <a:latin typeface="Courier New" panose="02070309020205020404" pitchFamily="49" charset="0"/>
                        </a:rPr>
                        <a:t>- 1 -</a:t>
                      </a:r>
                      <a:endParaRPr lang="ja-JP" altLang="en-US" sz="700"/>
                    </a:p>
                    <a:p>
                      <a:pPr>
                        <a:buNone/>
                      </a:pPr>
                      <a:br>
                        <a:rPr lang="ja-JP" altLang="en-US" sz="700"/>
                      </a:br>
                      <a:endParaRPr lang="ja-JP" altLang="en-US" sz="700"/>
                    </a:p>
                    <a:p>
                      <a:pPr>
                        <a:buNone/>
                      </a:pPr>
                      <a:r>
                        <a:rPr lang="ja-JP" altLang="en-US" sz="700"/>
                        <a:t>・</a:t>
                      </a:r>
                      <a:r>
                        <a:rPr lang="en-US" altLang="ja-JP" sz="700">
                          <a:latin typeface="Courier New" panose="02070309020205020404" pitchFamily="49" charset="0"/>
                        </a:rPr>
                        <a:t>—10—</a:t>
                      </a:r>
                      <a:endParaRPr lang="ja-JP" altLang="en-US" sz="700"/>
                    </a:p>
                  </a:txBody>
                  <a:tcPr marL="35377" marR="35377" marT="17688" marB="17688" anchor="ctr">
                    <a:lnL>
                      <a:noFill/>
                    </a:lnL>
                    <a:lnR>
                      <a:noFill/>
                    </a:lnR>
                    <a:lnT>
                      <a:noFill/>
                    </a:lnT>
                    <a:lnB>
                      <a:noFill/>
                    </a:lnB>
                    <a:noFill/>
                  </a:tcPr>
                </a:tc>
                <a:tc>
                  <a:txBody>
                    <a:bodyPr/>
                    <a:lstStyle/>
                    <a:p>
                      <a:pPr>
                        <a:buNone/>
                      </a:pPr>
                      <a:r>
                        <a:rPr lang="ja-JP" altLang="en-US" sz="700"/>
                        <a:t>ページ下部によく配置される、前後がハイフンで対称的に囲まれ、中央に数字が配置されている行全体を判定して除外する。</a:t>
                      </a:r>
                    </a:p>
                  </a:txBody>
                  <a:tcPr marL="35377" marR="35377" marT="17688" marB="17688" anchor="ctr">
                    <a:lnL>
                      <a:noFill/>
                    </a:lnL>
                    <a:lnR>
                      <a:noFill/>
                    </a:lnR>
                    <a:lnT>
                      <a:noFill/>
                    </a:lnT>
                    <a:lnB>
                      <a:noFill/>
                    </a:lnB>
                    <a:noFill/>
                  </a:tcPr>
                </a:tc>
                <a:extLst>
                  <a:ext uri="{0D108BD9-81ED-4DB2-BD59-A6C34878D82A}">
                    <a16:rowId xmlns:a16="http://schemas.microsoft.com/office/drawing/2014/main" val="3493433349"/>
                  </a:ext>
                </a:extLst>
              </a:tr>
              <a:tr h="975874">
                <a:tc>
                  <a:txBody>
                    <a:bodyPr/>
                    <a:lstStyle/>
                    <a:p>
                      <a:pPr>
                        <a:buNone/>
                      </a:pPr>
                      <a:r>
                        <a:rPr lang="en-US" altLang="ja-JP" sz="700" b="1"/>
                        <a:t>5. </a:t>
                      </a:r>
                      <a:r>
                        <a:rPr lang="ja-JP" altLang="en-US" sz="700" b="1"/>
                        <a:t>特定のヘッダー／フッター</a:t>
                      </a:r>
                      <a:endParaRPr lang="ja-JP" altLang="en-US" sz="700"/>
                    </a:p>
                  </a:txBody>
                  <a:tcPr marL="35377" marR="35377" marT="17688" marB="17688" anchor="ctr">
                    <a:lnL>
                      <a:noFill/>
                    </a:lnL>
                    <a:lnR>
                      <a:noFill/>
                    </a:lnR>
                    <a:lnT>
                      <a:noFill/>
                    </a:lnT>
                    <a:lnB>
                      <a:noFill/>
                    </a:lnB>
                    <a:noFill/>
                  </a:tcPr>
                </a:tc>
                <a:tc>
                  <a:txBody>
                    <a:bodyPr/>
                    <a:lstStyle/>
                    <a:p>
                      <a:pPr>
                        <a:buNone/>
                      </a:pPr>
                      <a:r>
                        <a:rPr lang="en-US" sz="700">
                          <a:latin typeface="Courier New" panose="02070309020205020404" pitchFamily="49" charset="0"/>
                        </a:rPr>
                        <a:t>pattern in line and len(line) &lt; 50</a:t>
                      </a:r>
                      <a:endParaRPr lang="en-US" sz="700"/>
                    </a:p>
                  </a:txBody>
                  <a:tcPr marL="35377" marR="35377" marT="17688" marB="17688" anchor="ctr">
                    <a:lnL>
                      <a:noFill/>
                    </a:lnL>
                    <a:lnR>
                      <a:noFill/>
                    </a:lnR>
                    <a:lnT>
                      <a:noFill/>
                    </a:lnT>
                    <a:lnB>
                      <a:noFill/>
                    </a:lnB>
                    <a:noFill/>
                  </a:tcPr>
                </a:tc>
                <a:tc>
                  <a:txBody>
                    <a:bodyPr/>
                    <a:lstStyle/>
                    <a:p>
                      <a:pPr>
                        <a:buNone/>
                      </a:pPr>
                      <a:r>
                        <a:rPr lang="ja-JP" altLang="en-US" sz="700"/>
                        <a:t>・</a:t>
                      </a:r>
                      <a:r>
                        <a:rPr lang="ja-JP" altLang="en-US" sz="700">
                          <a:latin typeface="Courier New" panose="02070309020205020404" pitchFamily="49" charset="0"/>
                        </a:rPr>
                        <a:t>淡水河北側沿河平面道路工程</a:t>
                      </a:r>
                      <a:endParaRPr lang="ja-JP" altLang="en-US" sz="700"/>
                    </a:p>
                    <a:p>
                      <a:pPr>
                        <a:buNone/>
                      </a:pPr>
                      <a:br>
                        <a:rPr lang="ja-JP" altLang="en-US" sz="700"/>
                      </a:br>
                      <a:endParaRPr lang="ja-JP" altLang="en-US" sz="700"/>
                    </a:p>
                    <a:p>
                      <a:pPr>
                        <a:buNone/>
                      </a:pPr>
                      <a:r>
                        <a:rPr lang="ja-JP" altLang="en-US" sz="700"/>
                        <a:t>・</a:t>
                      </a:r>
                      <a:r>
                        <a:rPr lang="ja-JP" altLang="en-US" sz="700">
                          <a:latin typeface="Courier New" panose="02070309020205020404" pitchFamily="49" charset="0"/>
                        </a:rPr>
                        <a:t>環境影響評估報告書</a:t>
                      </a:r>
                      <a:endParaRPr lang="ja-JP" altLang="en-US" sz="700"/>
                    </a:p>
                  </a:txBody>
                  <a:tcPr marL="35377" marR="35377" marT="17688" marB="17688" anchor="ctr">
                    <a:lnL>
                      <a:noFill/>
                    </a:lnL>
                    <a:lnR>
                      <a:noFill/>
                    </a:lnR>
                    <a:lnT>
                      <a:noFill/>
                    </a:lnT>
                    <a:lnB>
                      <a:noFill/>
                    </a:lnB>
                    <a:noFill/>
                  </a:tcPr>
                </a:tc>
                <a:tc>
                  <a:txBody>
                    <a:bodyPr/>
                    <a:lstStyle/>
                    <a:p>
                      <a:pPr>
                        <a:buNone/>
                      </a:pPr>
                      <a:r>
                        <a:rPr lang="ja-JP" altLang="en-US" sz="700" dirty="0"/>
                        <a:t>指定したキーワードが含まれ、かつ「行の文字数が</a:t>
                      </a:r>
                      <a:r>
                        <a:rPr lang="en-US" altLang="ja-JP" sz="700" dirty="0"/>
                        <a:t>50</a:t>
                      </a:r>
                      <a:r>
                        <a:rPr lang="ja-JP" altLang="en-US" sz="700" dirty="0"/>
                        <a:t>文字未満」である場合のみノイズと判定。本文中の同キーワードを含む長い文の誤削除（過剰適合）を防ぐ論理設計。</a:t>
                      </a:r>
                    </a:p>
                  </a:txBody>
                  <a:tcPr marL="35377" marR="35377" marT="17688" marB="17688" anchor="ctr">
                    <a:lnL>
                      <a:noFill/>
                    </a:lnL>
                    <a:lnR>
                      <a:noFill/>
                    </a:lnR>
                    <a:lnT>
                      <a:noFill/>
                    </a:lnT>
                    <a:lnB>
                      <a:noFill/>
                    </a:lnB>
                    <a:noFill/>
                  </a:tcPr>
                </a:tc>
                <a:extLst>
                  <a:ext uri="{0D108BD9-81ED-4DB2-BD59-A6C34878D82A}">
                    <a16:rowId xmlns:a16="http://schemas.microsoft.com/office/drawing/2014/main" val="822492656"/>
                  </a:ext>
                </a:extLst>
              </a:tr>
            </a:tbl>
          </a:graphicData>
        </a:graphic>
      </p:graphicFrame>
      <p:sp>
        <p:nvSpPr>
          <p:cNvPr id="7" name="文本框 6">
            <a:extLst>
              <a:ext uri="{FF2B5EF4-FFF2-40B4-BE49-F238E27FC236}">
                <a16:creationId xmlns:a16="http://schemas.microsoft.com/office/drawing/2014/main" id="{C7E45457-8C77-EE3D-455E-5CBFF943022F}"/>
              </a:ext>
            </a:extLst>
          </p:cNvPr>
          <p:cNvSpPr txBox="1"/>
          <p:nvPr/>
        </p:nvSpPr>
        <p:spPr>
          <a:xfrm>
            <a:off x="11679517" y="1502688"/>
            <a:ext cx="331742" cy="5355312"/>
          </a:xfrm>
          <a:prstGeom prst="rect">
            <a:avLst/>
          </a:prstGeom>
          <a:noFill/>
        </p:spPr>
        <p:txBody>
          <a:bodyPr wrap="square" rtlCol="0">
            <a:spAutoFit/>
          </a:bodyPr>
          <a:lstStyle/>
          <a:p>
            <a:r>
              <a:rPr kumimoji="1" lang="en-US" altLang="ja-JP" dirty="0"/>
              <a:t>Concluded</a:t>
            </a:r>
          </a:p>
          <a:p>
            <a:r>
              <a:rPr kumimoji="1" lang="en-US" altLang="ja-JP" dirty="0"/>
              <a:t> by </a:t>
            </a:r>
          </a:p>
          <a:p>
            <a:endParaRPr kumimoji="1" lang="en-US" altLang="ja-JP" dirty="0"/>
          </a:p>
          <a:p>
            <a:r>
              <a:rPr kumimoji="1" lang="en-US" altLang="ja-JP" dirty="0"/>
              <a:t>Gemini</a:t>
            </a:r>
            <a:endParaRPr kumimoji="1" lang="ja-JP" altLang="en-US" dirty="0"/>
          </a:p>
        </p:txBody>
      </p:sp>
      <p:sp>
        <p:nvSpPr>
          <p:cNvPr id="8" name="文本框 7">
            <a:extLst>
              <a:ext uri="{FF2B5EF4-FFF2-40B4-BE49-F238E27FC236}">
                <a16:creationId xmlns:a16="http://schemas.microsoft.com/office/drawing/2014/main" id="{9D70E876-E701-1D1F-DCD2-51CBFA5D18F3}"/>
              </a:ext>
            </a:extLst>
          </p:cNvPr>
          <p:cNvSpPr txBox="1"/>
          <p:nvPr/>
        </p:nvSpPr>
        <p:spPr>
          <a:xfrm>
            <a:off x="691376" y="6344496"/>
            <a:ext cx="3925229" cy="369332"/>
          </a:xfrm>
          <a:prstGeom prst="rect">
            <a:avLst/>
          </a:prstGeom>
          <a:noFill/>
        </p:spPr>
        <p:txBody>
          <a:bodyPr wrap="square" rtlCol="0">
            <a:spAutoFit/>
          </a:bodyPr>
          <a:lstStyle/>
          <a:p>
            <a:r>
              <a:rPr kumimoji="1" lang="en-US" altLang="ja-JP" dirty="0"/>
              <a:t>Generated by Claude</a:t>
            </a:r>
            <a:endParaRPr kumimoji="1" lang="ja-JP" altLang="en-US" dirty="0"/>
          </a:p>
        </p:txBody>
      </p:sp>
    </p:spTree>
    <p:extLst>
      <p:ext uri="{BB962C8B-B14F-4D97-AF65-F5344CB8AC3E}">
        <p14:creationId xmlns:p14="http://schemas.microsoft.com/office/powerpoint/2010/main" val="6732536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117AA7C-CA7D-B813-2790-61F40E7D9C29}"/>
              </a:ext>
            </a:extLst>
          </p:cNvPr>
          <p:cNvSpPr>
            <a:spLocks noGrp="1"/>
          </p:cNvSpPr>
          <p:nvPr>
            <p:ph type="title"/>
          </p:nvPr>
        </p:nvSpPr>
        <p:spPr/>
        <p:txBody>
          <a:bodyPr/>
          <a:lstStyle/>
          <a:p>
            <a:r>
              <a:rPr kumimoji="1" lang="en-US" altLang="ja-JP" dirty="0"/>
              <a:t>3.4 The result of text denoising</a:t>
            </a:r>
            <a:endParaRPr kumimoji="1" lang="ja-JP" altLang="en-US" dirty="0"/>
          </a:p>
        </p:txBody>
      </p:sp>
      <p:pic>
        <p:nvPicPr>
          <p:cNvPr id="5" name="内容占位符 4">
            <a:extLst>
              <a:ext uri="{FF2B5EF4-FFF2-40B4-BE49-F238E27FC236}">
                <a16:creationId xmlns:a16="http://schemas.microsoft.com/office/drawing/2014/main" id="{E50ACD7F-1FB6-D389-4C91-FE97B68B1BE4}"/>
              </a:ext>
            </a:extLst>
          </p:cNvPr>
          <p:cNvPicPr>
            <a:picLocks noGrp="1" noChangeAspect="1"/>
          </p:cNvPicPr>
          <p:nvPr>
            <p:ph idx="1"/>
          </p:nvPr>
        </p:nvPicPr>
        <p:blipFill>
          <a:blip r:embed="rId2"/>
          <a:stretch>
            <a:fillRect/>
          </a:stretch>
        </p:blipFill>
        <p:spPr>
          <a:xfrm>
            <a:off x="1641088" y="1571456"/>
            <a:ext cx="3376961" cy="3454358"/>
          </a:xfrm>
          <a:prstGeom prst="rect">
            <a:avLst/>
          </a:prstGeom>
        </p:spPr>
      </p:pic>
      <p:pic>
        <p:nvPicPr>
          <p:cNvPr id="7" name="图片 6">
            <a:extLst>
              <a:ext uri="{FF2B5EF4-FFF2-40B4-BE49-F238E27FC236}">
                <a16:creationId xmlns:a16="http://schemas.microsoft.com/office/drawing/2014/main" id="{C0769AB0-B5BD-AD20-49F1-64FCA048D831}"/>
              </a:ext>
            </a:extLst>
          </p:cNvPr>
          <p:cNvPicPr>
            <a:picLocks noChangeAspect="1"/>
          </p:cNvPicPr>
          <p:nvPr/>
        </p:nvPicPr>
        <p:blipFill>
          <a:blip r:embed="rId3"/>
          <a:stretch>
            <a:fillRect/>
          </a:stretch>
        </p:blipFill>
        <p:spPr>
          <a:xfrm>
            <a:off x="838200" y="5136642"/>
            <a:ext cx="11270762" cy="1302341"/>
          </a:xfrm>
          <a:prstGeom prst="rect">
            <a:avLst/>
          </a:prstGeom>
        </p:spPr>
      </p:pic>
      <p:sp>
        <p:nvSpPr>
          <p:cNvPr id="8" name="文本框 7">
            <a:extLst>
              <a:ext uri="{FF2B5EF4-FFF2-40B4-BE49-F238E27FC236}">
                <a16:creationId xmlns:a16="http://schemas.microsoft.com/office/drawing/2014/main" id="{717EB9CC-D955-3C80-808F-3DF8B96CB5CC}"/>
              </a:ext>
            </a:extLst>
          </p:cNvPr>
          <p:cNvSpPr txBox="1"/>
          <p:nvPr/>
        </p:nvSpPr>
        <p:spPr>
          <a:xfrm>
            <a:off x="570870" y="1571456"/>
            <a:ext cx="3189249" cy="369332"/>
          </a:xfrm>
          <a:prstGeom prst="rect">
            <a:avLst/>
          </a:prstGeom>
          <a:noFill/>
        </p:spPr>
        <p:txBody>
          <a:bodyPr wrap="square" rtlCol="0">
            <a:spAutoFit/>
          </a:bodyPr>
          <a:lstStyle/>
          <a:p>
            <a:r>
              <a:rPr kumimoji="1" lang="en-US" altLang="ja-JP" dirty="0"/>
              <a:t>Before</a:t>
            </a:r>
            <a:endParaRPr kumimoji="1" lang="ja-JP" altLang="en-US" dirty="0"/>
          </a:p>
        </p:txBody>
      </p:sp>
      <p:sp>
        <p:nvSpPr>
          <p:cNvPr id="9" name="文本框 8">
            <a:extLst>
              <a:ext uri="{FF2B5EF4-FFF2-40B4-BE49-F238E27FC236}">
                <a16:creationId xmlns:a16="http://schemas.microsoft.com/office/drawing/2014/main" id="{0D1C6BBB-FF25-5B9B-737F-9EE50BA8FF42}"/>
              </a:ext>
            </a:extLst>
          </p:cNvPr>
          <p:cNvSpPr txBox="1"/>
          <p:nvPr/>
        </p:nvSpPr>
        <p:spPr>
          <a:xfrm>
            <a:off x="570870" y="4701876"/>
            <a:ext cx="4096215" cy="369332"/>
          </a:xfrm>
          <a:prstGeom prst="rect">
            <a:avLst/>
          </a:prstGeom>
          <a:noFill/>
        </p:spPr>
        <p:txBody>
          <a:bodyPr wrap="square" rtlCol="0">
            <a:spAutoFit/>
          </a:bodyPr>
          <a:lstStyle/>
          <a:p>
            <a:r>
              <a:rPr kumimoji="1" lang="en-US" altLang="ja-JP" dirty="0"/>
              <a:t>After</a:t>
            </a:r>
            <a:endParaRPr kumimoji="1" lang="ja-JP" altLang="en-US" dirty="0"/>
          </a:p>
        </p:txBody>
      </p:sp>
      <p:pic>
        <p:nvPicPr>
          <p:cNvPr id="10" name="图片 9">
            <a:extLst>
              <a:ext uri="{FF2B5EF4-FFF2-40B4-BE49-F238E27FC236}">
                <a16:creationId xmlns:a16="http://schemas.microsoft.com/office/drawing/2014/main" id="{DF57A9B2-54C7-BDA9-F0EA-B330E676453D}"/>
              </a:ext>
            </a:extLst>
          </p:cNvPr>
          <p:cNvPicPr>
            <a:picLocks noChangeAspect="1"/>
          </p:cNvPicPr>
          <p:nvPr/>
        </p:nvPicPr>
        <p:blipFill>
          <a:blip r:embed="rId4"/>
          <a:srcRect t="66273" r="56778"/>
          <a:stretch>
            <a:fillRect/>
          </a:stretch>
        </p:blipFill>
        <p:spPr>
          <a:xfrm>
            <a:off x="100791" y="1928926"/>
            <a:ext cx="5608633" cy="3119585"/>
          </a:xfrm>
          <a:prstGeom prst="rect">
            <a:avLst/>
          </a:prstGeom>
        </p:spPr>
      </p:pic>
      <p:sp>
        <p:nvSpPr>
          <p:cNvPr id="12" name="文本框 11">
            <a:extLst>
              <a:ext uri="{FF2B5EF4-FFF2-40B4-BE49-F238E27FC236}">
                <a16:creationId xmlns:a16="http://schemas.microsoft.com/office/drawing/2014/main" id="{6C1C61ED-8CCB-FCEF-136F-5734D3D32982}"/>
              </a:ext>
            </a:extLst>
          </p:cNvPr>
          <p:cNvSpPr txBox="1"/>
          <p:nvPr/>
        </p:nvSpPr>
        <p:spPr>
          <a:xfrm>
            <a:off x="5469973" y="1571457"/>
            <a:ext cx="6830849" cy="3970318"/>
          </a:xfrm>
          <a:prstGeom prst="rect">
            <a:avLst/>
          </a:prstGeom>
          <a:noFill/>
        </p:spPr>
        <p:txBody>
          <a:bodyPr wrap="square">
            <a:spAutoFit/>
          </a:bodyPr>
          <a:lstStyle/>
          <a:p>
            <a:r>
              <a:rPr lang="ja-JP" altLang="en-US" dirty="0"/>
              <a:t>Mounted at /content/drive</a:t>
            </a:r>
          </a:p>
          <a:p>
            <a:r>
              <a:rPr lang="ja-JP" altLang="en-US" dirty="0"/>
              <a:t>検出された txt ファイル:</a:t>
            </a:r>
          </a:p>
          <a:p>
            <a:r>
              <a:rPr lang="ja-JP" altLang="en-US" dirty="0"/>
              <a:t>  - ocr_結果.txt    (382,281 バイト)</a:t>
            </a:r>
          </a:p>
          <a:p>
            <a:r>
              <a:rPr lang="ja-JP" altLang="en-US" dirty="0"/>
              <a:t>  - ocr_結果test0511.txt   (382,281 バイト)</a:t>
            </a:r>
          </a:p>
          <a:p>
            <a:r>
              <a:rPr lang="ja-JP" altLang="en-US" dirty="0"/>
              <a:t>  - 淡北環評審查結論2020_vision版.txt   (10,131 バイト)</a:t>
            </a:r>
          </a:p>
          <a:p>
            <a:r>
              <a:rPr lang="ja-JP" altLang="en-US" dirty="0"/>
              <a:t>原文の文字数: 179,243 文字</a:t>
            </a:r>
          </a:p>
          <a:p>
            <a:r>
              <a:rPr lang="ja-JP" altLang="en-US" dirty="0"/>
              <a:t>212 ページを認識</a:t>
            </a:r>
          </a:p>
          <a:p>
            <a:endParaRPr lang="ja-JP" altLang="en-US" dirty="0"/>
          </a:p>
          <a:p>
            <a:r>
              <a:rPr lang="ja-JP" altLang="en-US" dirty="0"/>
              <a:t>クリーニング完了!</a:t>
            </a:r>
          </a:p>
          <a:p>
            <a:r>
              <a:rPr lang="ja-JP" altLang="en-US" dirty="0"/>
              <a:t>  原文: 179,243 文字</a:t>
            </a:r>
          </a:p>
          <a:p>
            <a:r>
              <a:rPr lang="ja-JP" altLang="en-US" dirty="0"/>
              <a:t>  クリーニング後: 162,104 文字</a:t>
            </a:r>
          </a:p>
          <a:p>
            <a:r>
              <a:rPr lang="ja-JP" altLang="en-US" dirty="0"/>
              <a:t>  削減率: 9.6%</a:t>
            </a:r>
          </a:p>
          <a:p>
            <a:r>
              <a:rPr lang="ja-JP" altLang="en-US" dirty="0"/>
              <a:t>  保存先: /content/drive/MyDrive/ocr_結果_クリーニング版.txt</a:t>
            </a:r>
          </a:p>
          <a:p>
            <a:r>
              <a:rPr lang="ja-JP" altLang="en-US" dirty="0"/>
              <a:t>  繁体字/簡体字変換: なし (繁体字を保持)</a:t>
            </a:r>
          </a:p>
        </p:txBody>
      </p:sp>
    </p:spTree>
    <p:extLst>
      <p:ext uri="{BB962C8B-B14F-4D97-AF65-F5344CB8AC3E}">
        <p14:creationId xmlns:p14="http://schemas.microsoft.com/office/powerpoint/2010/main" val="17331316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C53CDE-893F-F8DF-B2BC-D148532A58B6}"/>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D8A52E0-D9B2-961C-B0CF-5B84FB2E860D}"/>
              </a:ext>
            </a:extLst>
          </p:cNvPr>
          <p:cNvSpPr>
            <a:spLocks noGrp="1"/>
          </p:cNvSpPr>
          <p:nvPr>
            <p:ph type="ctrTitle"/>
          </p:nvPr>
        </p:nvSpPr>
        <p:spPr>
          <a:xfrm>
            <a:off x="1524000" y="2863482"/>
            <a:ext cx="9144000" cy="1131036"/>
          </a:xfrm>
        </p:spPr>
        <p:txBody>
          <a:bodyPr>
            <a:normAutofit fontScale="90000"/>
          </a:bodyPr>
          <a:lstStyle/>
          <a:p>
            <a:pPr algn="l"/>
            <a:r>
              <a:rPr kumimoji="1" lang="en-US" altLang="ja-JP" dirty="0"/>
              <a:t>4. AI Purpose and Boundary</a:t>
            </a:r>
            <a:endParaRPr kumimoji="1" lang="ja-JP" altLang="en-US" dirty="0"/>
          </a:p>
        </p:txBody>
      </p:sp>
    </p:spTree>
    <p:extLst>
      <p:ext uri="{BB962C8B-B14F-4D97-AF65-F5344CB8AC3E}">
        <p14:creationId xmlns:p14="http://schemas.microsoft.com/office/powerpoint/2010/main" val="3319965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E56116-7F1E-AD29-C28D-0122F4768F5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82919D7A-D3E4-6F36-9A94-59A43EECB435}"/>
              </a:ext>
            </a:extLst>
          </p:cNvPr>
          <p:cNvSpPr>
            <a:spLocks noGrp="1"/>
          </p:cNvSpPr>
          <p:nvPr>
            <p:ph type="title"/>
          </p:nvPr>
        </p:nvSpPr>
        <p:spPr/>
        <p:txBody>
          <a:bodyPr/>
          <a:lstStyle/>
          <a:p>
            <a:r>
              <a:rPr lang="en-US" altLang="ja-JP" dirty="0"/>
              <a:t>4 AI Purpose and Boundary</a:t>
            </a:r>
            <a:endParaRPr kumimoji="1" lang="ja-JP" altLang="en-US" dirty="0"/>
          </a:p>
        </p:txBody>
      </p:sp>
      <p:sp>
        <p:nvSpPr>
          <p:cNvPr id="3" name="内容占位符 2">
            <a:extLst>
              <a:ext uri="{FF2B5EF4-FFF2-40B4-BE49-F238E27FC236}">
                <a16:creationId xmlns:a16="http://schemas.microsoft.com/office/drawing/2014/main" id="{F6D7DB65-9151-DA19-5023-BBA3CEBC7679}"/>
              </a:ext>
            </a:extLst>
          </p:cNvPr>
          <p:cNvSpPr>
            <a:spLocks noGrp="1"/>
          </p:cNvSpPr>
          <p:nvPr>
            <p:ph idx="1"/>
          </p:nvPr>
        </p:nvSpPr>
        <p:spPr>
          <a:xfrm>
            <a:off x="838200" y="2349693"/>
            <a:ext cx="11123341" cy="1612707"/>
          </a:xfrm>
        </p:spPr>
        <p:txBody>
          <a:bodyPr>
            <a:normAutofit/>
          </a:bodyPr>
          <a:lstStyle/>
          <a:p>
            <a:r>
              <a:rPr kumimoji="1" lang="en-US" altLang="ja-JP" dirty="0"/>
              <a:t>AI’s work: Repetitive and mechanical work. - “Data Cleaning”</a:t>
            </a:r>
          </a:p>
          <a:p>
            <a:r>
              <a:rPr lang="en-US" altLang="ja-JP" dirty="0"/>
              <a:t>My work: Theoretical Work (Three level coding……)</a:t>
            </a:r>
          </a:p>
          <a:p>
            <a:r>
              <a:rPr kumimoji="1" lang="en-US" altLang="ja-JP" dirty="0"/>
              <a:t>Ho</a:t>
            </a:r>
            <a:r>
              <a:rPr lang="en-US" altLang="ja-JP" dirty="0"/>
              <a:t>nestly report AI’s usage in thesis.</a:t>
            </a:r>
            <a:endParaRPr kumimoji="1" lang="ja-JP" altLang="en-US" dirty="0"/>
          </a:p>
        </p:txBody>
      </p:sp>
    </p:spTree>
    <p:extLst>
      <p:ext uri="{BB962C8B-B14F-4D97-AF65-F5344CB8AC3E}">
        <p14:creationId xmlns:p14="http://schemas.microsoft.com/office/powerpoint/2010/main" val="5492598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59B85D-F920-8CAC-0A6D-54B2C888DE50}"/>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35D2014-D445-261A-C1EE-10066D1E40DA}"/>
              </a:ext>
            </a:extLst>
          </p:cNvPr>
          <p:cNvSpPr>
            <a:spLocks noGrp="1"/>
          </p:cNvSpPr>
          <p:nvPr>
            <p:ph type="title"/>
          </p:nvPr>
        </p:nvSpPr>
        <p:spPr>
          <a:xfrm>
            <a:off x="838199" y="-2285"/>
            <a:ext cx="10515600" cy="1325563"/>
          </a:xfrm>
        </p:spPr>
        <p:txBody>
          <a:bodyPr/>
          <a:lstStyle/>
          <a:p>
            <a:pPr algn="ctr"/>
            <a:r>
              <a:rPr kumimoji="1" lang="en-US" altLang="ja-JP" dirty="0"/>
              <a:t>Conclusion</a:t>
            </a:r>
            <a:endParaRPr kumimoji="1" lang="ja-JP" altLang="en-US" dirty="0"/>
          </a:p>
        </p:txBody>
      </p:sp>
      <p:sp>
        <p:nvSpPr>
          <p:cNvPr id="3" name="内容占位符 2">
            <a:extLst>
              <a:ext uri="{FF2B5EF4-FFF2-40B4-BE49-F238E27FC236}">
                <a16:creationId xmlns:a16="http://schemas.microsoft.com/office/drawing/2014/main" id="{49379F70-65A4-5B66-176C-A82C29E4B213}"/>
              </a:ext>
            </a:extLst>
          </p:cNvPr>
          <p:cNvSpPr>
            <a:spLocks noGrp="1"/>
          </p:cNvSpPr>
          <p:nvPr>
            <p:ph idx="1"/>
          </p:nvPr>
        </p:nvSpPr>
        <p:spPr>
          <a:xfrm>
            <a:off x="534329" y="973873"/>
            <a:ext cx="11123341" cy="5605347"/>
          </a:xfrm>
        </p:spPr>
        <p:txBody>
          <a:bodyPr>
            <a:normAutofit fontScale="55000" lnSpcReduction="20000"/>
          </a:bodyPr>
          <a:lstStyle/>
          <a:p>
            <a:pPr marL="0" indent="0">
              <a:buNone/>
            </a:pPr>
            <a:r>
              <a:rPr lang="en-US" altLang="ja-JP" dirty="0"/>
              <a:t>The problem: </a:t>
            </a:r>
            <a:r>
              <a:rPr lang="en-US" altLang="ja-JP" dirty="0" err="1"/>
              <a:t>Nvivo</a:t>
            </a:r>
            <a:r>
              <a:rPr lang="en-US" altLang="ja-JP" dirty="0"/>
              <a:t> need pure TXT files but I have 3 types of PDF files.</a:t>
            </a:r>
          </a:p>
          <a:p>
            <a:pPr marL="0" indent="0">
              <a:buNone/>
            </a:pPr>
            <a:r>
              <a:rPr lang="en-US" altLang="ja-JP" dirty="0"/>
              <a:t>Methodology: 1. Change them into TXT with 3 methods.</a:t>
            </a:r>
          </a:p>
          <a:p>
            <a:pPr marL="0" indent="0">
              <a:buNone/>
            </a:pPr>
            <a:r>
              <a:rPr lang="en-US" altLang="ja-JP" dirty="0"/>
              <a:t>                       2. Clean them with Python.</a:t>
            </a:r>
          </a:p>
          <a:p>
            <a:pPr marL="0" indent="0">
              <a:buNone/>
            </a:pPr>
            <a:r>
              <a:rPr lang="en-US" altLang="ja-JP" dirty="0"/>
              <a:t>Pay attention to Academic Ethics.</a:t>
            </a:r>
          </a:p>
          <a:p>
            <a:endParaRPr lang="en-US" altLang="ja-JP" dirty="0"/>
          </a:p>
          <a:p>
            <a:r>
              <a:rPr lang="en-US" altLang="ja-JP" dirty="0"/>
              <a:t>Why Three Different Tools?</a:t>
            </a:r>
          </a:p>
          <a:p>
            <a:endParaRPr lang="en-US" altLang="ja-JP" dirty="0"/>
          </a:p>
          <a:p>
            <a:r>
              <a:rPr lang="en-US" altLang="ja-JP" dirty="0"/>
              <a:t>  Task                             Best Tool                                 Reason</a:t>
            </a:r>
          </a:p>
          <a:p>
            <a:r>
              <a:rPr lang="en-US" altLang="ja-JP" dirty="0"/>
              <a:t>  ─────────────────────────────────────────────────────</a:t>
            </a:r>
          </a:p>
          <a:p>
            <a:r>
              <a:rPr lang="en-US" altLang="ja-JP" dirty="0"/>
              <a:t>  Extract text layer         </a:t>
            </a:r>
            <a:r>
              <a:rPr lang="en-US" altLang="ja-JP" dirty="0" err="1"/>
              <a:t>pdftotext</a:t>
            </a:r>
            <a:r>
              <a:rPr lang="en-US" altLang="ja-JP" dirty="0"/>
              <a:t>                             Already digital</a:t>
            </a:r>
          </a:p>
          <a:p>
            <a:r>
              <a:rPr lang="en-US" altLang="ja-JP" dirty="0"/>
              <a:t>  OCR printed text         Cloud Vision                        Cheap &amp; accurate</a:t>
            </a:r>
          </a:p>
          <a:p>
            <a:r>
              <a:rPr lang="en-US" altLang="ja-JP" dirty="0"/>
              <a:t>  OCR handwriting         Gemini API                          Multimodal understanding</a:t>
            </a:r>
          </a:p>
          <a:p>
            <a:r>
              <a:rPr lang="en-US" altLang="ja-JP" dirty="0"/>
              <a:t>  Clean noise                 Python (rules)                     Deterministic &amp; free</a:t>
            </a:r>
          </a:p>
          <a:p>
            <a:r>
              <a:rPr lang="en-US" altLang="ja-JP" dirty="0"/>
              <a:t>  Code &amp; interpret         Researcher                          Theoretical sensitivity</a:t>
            </a:r>
          </a:p>
          <a:p>
            <a:r>
              <a:rPr lang="en-US" altLang="ja-JP" dirty="0"/>
              <a:t>  </a:t>
            </a:r>
          </a:p>
          <a:p>
            <a:r>
              <a:rPr lang="en-US" altLang="ja-JP" dirty="0"/>
              <a:t>  Principle: </a:t>
            </a:r>
          </a:p>
          <a:p>
            <a:r>
              <a:rPr lang="en-US" altLang="ja-JP" dirty="0"/>
              <a:t>  Match the tool to the nature of the task.</a:t>
            </a:r>
          </a:p>
          <a:p>
            <a:r>
              <a:rPr lang="en-US" altLang="ja-JP" dirty="0"/>
              <a:t>  Never overuse AI; never underuse it.</a:t>
            </a:r>
          </a:p>
          <a:p>
            <a:pPr marL="0" indent="0">
              <a:buNone/>
            </a:pPr>
            <a:r>
              <a:rPr kumimoji="1" lang="en-US" altLang="ja-JP" dirty="0"/>
              <a:t>      (This table was generated by Claude)</a:t>
            </a:r>
            <a:endParaRPr kumimoji="1" lang="ja-JP" altLang="en-US" dirty="0"/>
          </a:p>
        </p:txBody>
      </p:sp>
    </p:spTree>
    <p:extLst>
      <p:ext uri="{BB962C8B-B14F-4D97-AF65-F5344CB8AC3E}">
        <p14:creationId xmlns:p14="http://schemas.microsoft.com/office/powerpoint/2010/main" val="35093146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9B85ED2-C74B-245D-4B28-93CB0C942FB9}"/>
              </a:ext>
            </a:extLst>
          </p:cNvPr>
          <p:cNvSpPr>
            <a:spLocks noGrp="1"/>
          </p:cNvSpPr>
          <p:nvPr>
            <p:ph type="title"/>
          </p:nvPr>
        </p:nvSpPr>
        <p:spPr>
          <a:xfrm>
            <a:off x="838200" y="2766218"/>
            <a:ext cx="10515600" cy="1325563"/>
          </a:xfrm>
        </p:spPr>
        <p:txBody>
          <a:bodyPr/>
          <a:lstStyle/>
          <a:p>
            <a:pPr algn="ctr"/>
            <a:r>
              <a:rPr kumimoji="1" lang="en-US" altLang="ja-JP" dirty="0"/>
              <a:t>Thank You!</a:t>
            </a:r>
            <a:endParaRPr kumimoji="1" lang="ja-JP" altLang="en-US" dirty="0"/>
          </a:p>
        </p:txBody>
      </p:sp>
    </p:spTree>
    <p:extLst>
      <p:ext uri="{BB962C8B-B14F-4D97-AF65-F5344CB8AC3E}">
        <p14:creationId xmlns:p14="http://schemas.microsoft.com/office/powerpoint/2010/main" val="2436005952"/>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696</TotalTime>
  <Words>2569</Words>
  <Application>Microsoft Office PowerPoint</Application>
  <PresentationFormat>宽屏</PresentationFormat>
  <Paragraphs>275</Paragraphs>
  <Slides>27</Slides>
  <Notes>1</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27</vt:i4>
      </vt:variant>
    </vt:vector>
  </HeadingPairs>
  <TitlesOfParts>
    <vt:vector size="32" baseType="lpstr">
      <vt:lpstr>游ゴシック</vt:lpstr>
      <vt:lpstr>游ゴシック Light</vt:lpstr>
      <vt:lpstr>Arial</vt:lpstr>
      <vt:lpstr>Courier New</vt:lpstr>
      <vt:lpstr>Office 主题​​</vt:lpstr>
      <vt:lpstr>Methods for Cleaning Qualitative Research Data (How can Python and AI help Text Mining work)</vt:lpstr>
      <vt:lpstr>Structure</vt:lpstr>
      <vt:lpstr>1. The Problem</vt:lpstr>
      <vt:lpstr>1.1 About Text Mining and Coding</vt:lpstr>
      <vt:lpstr>1.2 File Types</vt:lpstr>
      <vt:lpstr>1.3 Nvivo characteristics and file corresponding conditions (1)</vt:lpstr>
      <vt:lpstr>1.3 Nvivo characteristics and file corresponding conditions (1)</vt:lpstr>
      <vt:lpstr>1.3 Nvivo characteristics and file corresponding conditions (2)</vt:lpstr>
      <vt:lpstr>1.4 The Problem Conclusion   – What should I do?</vt:lpstr>
      <vt:lpstr>2. OCR Methods</vt:lpstr>
      <vt:lpstr>2.1 AI OCR</vt:lpstr>
      <vt:lpstr>2.2 Python Supported AI OCR (File Type 3)</vt:lpstr>
      <vt:lpstr>2.2 Python Supported AI OCR: Preparation</vt:lpstr>
      <vt:lpstr>2.2 Python Supported AI OCR: Result</vt:lpstr>
      <vt:lpstr>2.2 Python Supported AI OCR: Program (from Claude)</vt:lpstr>
      <vt:lpstr>2.2 Python Supported AI OCR: Costs</vt:lpstr>
      <vt:lpstr>2.3 Printed text OCR without text layer  (File Type 2)</vt:lpstr>
      <vt:lpstr>2.4 Printed text with a text layer  (File Type 1)</vt:lpstr>
      <vt:lpstr>3. Text Denoising</vt:lpstr>
      <vt:lpstr>3.1 What files do we have at this point? </vt:lpstr>
      <vt:lpstr>3.2 What is Text Noise?</vt:lpstr>
      <vt:lpstr>3.3 How to Denoise?</vt:lpstr>
      <vt:lpstr>3.4 The result of text denoising</vt:lpstr>
      <vt:lpstr>4. AI Purpose and Boundary</vt:lpstr>
      <vt:lpstr>4 AI Purpose and Boundary</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shangwx202002@163.com</dc:creator>
  <cp:lastModifiedBy>WENXUAN SHANG</cp:lastModifiedBy>
  <cp:revision>42</cp:revision>
  <dcterms:created xsi:type="dcterms:W3CDTF">2026-05-11T06:33:51Z</dcterms:created>
  <dcterms:modified xsi:type="dcterms:W3CDTF">2026-05-26T05:51:08Z</dcterms:modified>
</cp:coreProperties>
</file>